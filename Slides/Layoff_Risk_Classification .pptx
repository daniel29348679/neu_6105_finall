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14"/>
    <p:restoredTop sz="96229"/>
  </p:normalViewPr>
  <p:slideViewPr>
    <p:cSldViewPr snapToGrid="0" snapToObjects="1">
      <p:cViewPr varScale="1">
        <p:scale>
          <a:sx n="120" d="100"/>
          <a:sy n="120" d="100"/>
        </p:scale>
        <p:origin x="147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00BFF4-4C1E-8B44-9A9E-A31812978FB4}" type="datetimeFigureOut">
              <a:rPr lang="en-US" smtClean="0"/>
              <a:t>12/8/25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4A9969-39C6-3142-8385-E79571F850AD}" type="slidenum">
              <a:rPr lang="en-US" smtClean="0"/>
              <a:t>‹#›</a:t>
            </a:fld>
            <a:endParaRPr lang="en-US"/>
          </a:p>
        </p:txBody>
      </p:sp>
    </p:spTree>
    <p:extLst>
      <p:ext uri="{BB962C8B-B14F-4D97-AF65-F5344CB8AC3E}">
        <p14:creationId xmlns:p14="http://schemas.microsoft.com/office/powerpoint/2010/main" val="2088353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We are Pin-Yuan, Shirui, and Yixin. Today we're presenting our Layoff Risk Classification project.</a:t>
            </a:r>
          </a:p>
        </p:txBody>
      </p:sp>
      <p:sp>
        <p:nvSpPr>
          <p:cNvPr id="4" name="Slide Number Placeholder 3"/>
          <p:cNvSpPr>
            <a:spLocks noGrp="1"/>
          </p:cNvSpPr>
          <p:nvPr>
            <p:ph type="sldNum" sz="quarter" idx="5"/>
          </p:nvPr>
        </p:nvSpPr>
        <p:spPr/>
        <p:txBody>
          <a:bodyPr/>
          <a:lstStyle/>
          <a:p>
            <a:fld id="{264A9969-39C6-3142-8385-E79571F850AD}" type="slidenum">
              <a:rPr lang="en-US" smtClean="0"/>
              <a:t>1</a:t>
            </a:fld>
            <a:endParaRPr lang="en-US"/>
          </a:p>
        </p:txBody>
      </p:sp>
    </p:spTree>
    <p:extLst>
      <p:ext uri="{BB962C8B-B14F-4D97-AF65-F5344CB8AC3E}">
        <p14:creationId xmlns:p14="http://schemas.microsoft.com/office/powerpoint/2010/main" val="2789133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layoffs surged across 2022 to 2024, creating a need for early risk detection. Our goal is to classify companies into High Risk or Low Risk. High Risk means layoff ratio exceeds 5% or recent heavy layoffs.</a:t>
            </a:r>
          </a:p>
          <a:p>
            <a:r>
              <a:rPr lang="en-US" dirty="0"/>
              <a:t>We started with 489 companies from Kaggle, and after cleaning, we have 142 usable companies.</a:t>
            </a:r>
          </a:p>
          <a:p>
            <a:endParaRPr lang="en-US" dirty="0"/>
          </a:p>
        </p:txBody>
      </p:sp>
      <p:sp>
        <p:nvSpPr>
          <p:cNvPr id="4" name="Slide Number Placeholder 3"/>
          <p:cNvSpPr>
            <a:spLocks noGrp="1"/>
          </p:cNvSpPr>
          <p:nvPr>
            <p:ph type="sldNum" sz="quarter" idx="5"/>
          </p:nvPr>
        </p:nvSpPr>
        <p:spPr/>
        <p:txBody>
          <a:bodyPr/>
          <a:lstStyle/>
          <a:p>
            <a:fld id="{264A9969-39C6-3142-8385-E79571F850AD}" type="slidenum">
              <a:rPr lang="en-US" smtClean="0"/>
              <a:t>2</a:t>
            </a:fld>
            <a:endParaRPr lang="en-US"/>
          </a:p>
        </p:txBody>
      </p:sp>
    </p:spTree>
    <p:extLst>
      <p:ext uri="{BB962C8B-B14F-4D97-AF65-F5344CB8AC3E}">
        <p14:creationId xmlns:p14="http://schemas.microsoft.com/office/powerpoint/2010/main" val="2621773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EDA revealed three key insights. First, layoff ratios are heavily right-skewed—most companies are below 0.2. Second, our dataset is strongly imbalanced with 81% high-risk companies. Third, we see clear industry-level differences. AI, analytics, and healthcare show nearly 100% high-risk rates.</a:t>
            </a:r>
          </a:p>
        </p:txBody>
      </p:sp>
      <p:sp>
        <p:nvSpPr>
          <p:cNvPr id="4" name="Slide Number Placeholder 3"/>
          <p:cNvSpPr>
            <a:spLocks noGrp="1"/>
          </p:cNvSpPr>
          <p:nvPr>
            <p:ph type="sldNum" sz="quarter" idx="5"/>
          </p:nvPr>
        </p:nvSpPr>
        <p:spPr/>
        <p:txBody>
          <a:bodyPr/>
          <a:lstStyle/>
          <a:p>
            <a:fld id="{264A9969-39C6-3142-8385-E79571F850AD}" type="slidenum">
              <a:rPr lang="en-US" smtClean="0"/>
              <a:t>3</a:t>
            </a:fld>
            <a:endParaRPr lang="en-US"/>
          </a:p>
        </p:txBody>
      </p:sp>
    </p:spTree>
    <p:extLst>
      <p:ext uri="{BB962C8B-B14F-4D97-AF65-F5344CB8AC3E}">
        <p14:creationId xmlns:p14="http://schemas.microsoft.com/office/powerpoint/2010/main" val="1392525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trends over time, we see dramatic spikes in late 2022 and early 2023, driven by macroeconomic factors. These peaks are concentrated in tech and fintech, validating why our classification task matters.</a:t>
            </a:r>
            <a:r>
              <a:rPr lang="en-US" b="1" dirty="0"/>
              <a:t> </a:t>
            </a:r>
            <a:endParaRPr lang="en-US" dirty="0"/>
          </a:p>
        </p:txBody>
      </p:sp>
      <p:sp>
        <p:nvSpPr>
          <p:cNvPr id="4" name="Slide Number Placeholder 3"/>
          <p:cNvSpPr>
            <a:spLocks noGrp="1"/>
          </p:cNvSpPr>
          <p:nvPr>
            <p:ph type="sldNum" sz="quarter" idx="5"/>
          </p:nvPr>
        </p:nvSpPr>
        <p:spPr/>
        <p:txBody>
          <a:bodyPr/>
          <a:lstStyle/>
          <a:p>
            <a:fld id="{264A9969-39C6-3142-8385-E79571F850AD}" type="slidenum">
              <a:rPr lang="en-US" smtClean="0"/>
              <a:t>4</a:t>
            </a:fld>
            <a:endParaRPr lang="en-US"/>
          </a:p>
        </p:txBody>
      </p:sp>
    </p:spTree>
    <p:extLst>
      <p:ext uri="{BB962C8B-B14F-4D97-AF65-F5344CB8AC3E}">
        <p14:creationId xmlns:p14="http://schemas.microsoft.com/office/powerpoint/2010/main" val="743915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preprocessing, we one-hot encoded categorical features and used an 80/20 train-test split with stratification. We applied </a:t>
            </a:r>
            <a:r>
              <a:rPr lang="en-US" dirty="0" err="1"/>
              <a:t>class_weight</a:t>
            </a:r>
            <a:r>
              <a:rPr lang="en-US" dirty="0"/>
              <a:t>='balanced' for fairness.</a:t>
            </a:r>
          </a:p>
          <a:p>
            <a:r>
              <a:rPr lang="en-US" dirty="0"/>
              <a:t>We evaluated Decision Tree and Random Forest, measuring Accuracy, F1, Recall, ROC-AUC, and Confusion Matrix.</a:t>
            </a:r>
          </a:p>
          <a:p>
            <a:endParaRPr lang="en-US" dirty="0"/>
          </a:p>
        </p:txBody>
      </p:sp>
      <p:sp>
        <p:nvSpPr>
          <p:cNvPr id="4" name="Slide Number Placeholder 3"/>
          <p:cNvSpPr>
            <a:spLocks noGrp="1"/>
          </p:cNvSpPr>
          <p:nvPr>
            <p:ph type="sldNum" sz="quarter" idx="5"/>
          </p:nvPr>
        </p:nvSpPr>
        <p:spPr/>
        <p:txBody>
          <a:bodyPr/>
          <a:lstStyle/>
          <a:p>
            <a:fld id="{264A9969-39C6-3142-8385-E79571F850AD}" type="slidenum">
              <a:rPr lang="en-US" smtClean="0"/>
              <a:t>5</a:t>
            </a:fld>
            <a:endParaRPr lang="en-US"/>
          </a:p>
        </p:txBody>
      </p:sp>
    </p:spTree>
    <p:extLst>
      <p:ext uri="{BB962C8B-B14F-4D97-AF65-F5344CB8AC3E}">
        <p14:creationId xmlns:p14="http://schemas.microsoft.com/office/powerpoint/2010/main" val="1747693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Decision Tree achieved excellent results: 93.1% accuracy, F1 of 0.955, and ROC-AUC of 0.971.</a:t>
            </a:r>
          </a:p>
          <a:p>
            <a:r>
              <a:rPr lang="en-US" dirty="0"/>
              <a:t>We had only 2 false negatives—Apollo and Rock Content—both with old layoffs over 1,000 days ago. The tree correctly down-weights outdated data. Zero false positives means excellent precision.</a:t>
            </a:r>
          </a:p>
          <a:p>
            <a:endParaRPr lang="en-US" dirty="0"/>
          </a:p>
        </p:txBody>
      </p:sp>
      <p:sp>
        <p:nvSpPr>
          <p:cNvPr id="4" name="Slide Number Placeholder 3"/>
          <p:cNvSpPr>
            <a:spLocks noGrp="1"/>
          </p:cNvSpPr>
          <p:nvPr>
            <p:ph type="sldNum" sz="quarter" idx="5"/>
          </p:nvPr>
        </p:nvSpPr>
        <p:spPr/>
        <p:txBody>
          <a:bodyPr/>
          <a:lstStyle/>
          <a:p>
            <a:fld id="{264A9969-39C6-3142-8385-E79571F850AD}" type="slidenum">
              <a:rPr lang="en-US" smtClean="0"/>
              <a:t>6</a:t>
            </a:fld>
            <a:endParaRPr lang="en-US"/>
          </a:p>
        </p:txBody>
      </p:sp>
    </p:spTree>
    <p:extLst>
      <p:ext uri="{BB962C8B-B14F-4D97-AF65-F5344CB8AC3E}">
        <p14:creationId xmlns:p14="http://schemas.microsoft.com/office/powerpoint/2010/main" val="1416330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Random Forest achieved 86.2% accuracy with perfect recall of 1.0, but produced 4 false positives. It's better for "don't miss any risk" scenarios, but Decision Tree offers better balance and interpretability.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64A9969-39C6-3142-8385-E79571F850AD}" type="slidenum">
              <a:rPr lang="en-US" smtClean="0"/>
              <a:t>7</a:t>
            </a:fld>
            <a:endParaRPr lang="en-US"/>
          </a:p>
        </p:txBody>
      </p:sp>
    </p:spTree>
    <p:extLst>
      <p:ext uri="{BB962C8B-B14F-4D97-AF65-F5344CB8AC3E}">
        <p14:creationId xmlns:p14="http://schemas.microsoft.com/office/powerpoint/2010/main" val="3350826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model in action. Companies with high ratios—like Aqua Security at 0.10, </a:t>
            </a:r>
            <a:r>
              <a:rPr lang="en-US" dirty="0" err="1"/>
              <a:t>SuperRare</a:t>
            </a:r>
            <a:r>
              <a:rPr lang="en-US" dirty="0"/>
              <a:t> at 0.12—are predicted as high risk. Low ratio companies like </a:t>
            </a:r>
            <a:r>
              <a:rPr lang="en-US" dirty="0" err="1"/>
              <a:t>Addepar</a:t>
            </a:r>
            <a:r>
              <a:rPr lang="en-US" dirty="0"/>
              <a:t> at 0.03 are predicted as low risk. Predictions align well with industry patterns and are highly interpretable.</a:t>
            </a:r>
          </a:p>
        </p:txBody>
      </p:sp>
      <p:sp>
        <p:nvSpPr>
          <p:cNvPr id="4" name="Slide Number Placeholder 3"/>
          <p:cNvSpPr>
            <a:spLocks noGrp="1"/>
          </p:cNvSpPr>
          <p:nvPr>
            <p:ph type="sldNum" sz="quarter" idx="5"/>
          </p:nvPr>
        </p:nvSpPr>
        <p:spPr/>
        <p:txBody>
          <a:bodyPr/>
          <a:lstStyle/>
          <a:p>
            <a:fld id="{264A9969-39C6-3142-8385-E79571F850AD}" type="slidenum">
              <a:rPr lang="en-US" smtClean="0"/>
              <a:t>8</a:t>
            </a:fld>
            <a:endParaRPr lang="en-US"/>
          </a:p>
        </p:txBody>
      </p:sp>
    </p:spTree>
    <p:extLst>
      <p:ext uri="{BB962C8B-B14F-4D97-AF65-F5344CB8AC3E}">
        <p14:creationId xmlns:p14="http://schemas.microsoft.com/office/powerpoint/2010/main" val="3387970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benefits? Employees can avoid unstable companies. HR teams can plan better. Investors get stability insights. Policy makers can track sector trends.</a:t>
            </a:r>
          </a:p>
          <a:p>
            <a:r>
              <a:rPr lang="en-US" dirty="0"/>
              <a:t>Why does it work? Transparent Decision Tree, public data only, and easy deployment.</a:t>
            </a:r>
          </a:p>
          <a:p>
            <a:endParaRPr lang="en-US" dirty="0"/>
          </a:p>
        </p:txBody>
      </p:sp>
      <p:sp>
        <p:nvSpPr>
          <p:cNvPr id="4" name="Slide Number Placeholder 3"/>
          <p:cNvSpPr>
            <a:spLocks noGrp="1"/>
          </p:cNvSpPr>
          <p:nvPr>
            <p:ph type="sldNum" sz="quarter" idx="5"/>
          </p:nvPr>
        </p:nvSpPr>
        <p:spPr/>
        <p:txBody>
          <a:bodyPr/>
          <a:lstStyle/>
          <a:p>
            <a:fld id="{264A9969-39C6-3142-8385-E79571F850AD}" type="slidenum">
              <a:rPr lang="en-US" smtClean="0"/>
              <a:t>9</a:t>
            </a:fld>
            <a:endParaRPr lang="en-US"/>
          </a:p>
        </p:txBody>
      </p:sp>
    </p:spTree>
    <p:extLst>
      <p:ext uri="{BB962C8B-B14F-4D97-AF65-F5344CB8AC3E}">
        <p14:creationId xmlns:p14="http://schemas.microsoft.com/office/powerpoint/2010/main" val="4137070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improvements include integrating financial data, hiring trends, and news sentiment. We'd explore advanced models like </a:t>
            </a:r>
            <a:r>
              <a:rPr lang="en-US" dirty="0" err="1"/>
              <a:t>XGBoost</a:t>
            </a:r>
            <a:r>
              <a:rPr lang="en-US" dirty="0"/>
              <a:t> and add time-series features. We also want to address fairness across industries and enhance interpretability with SHAP or LIME</a:t>
            </a:r>
          </a:p>
        </p:txBody>
      </p:sp>
      <p:sp>
        <p:nvSpPr>
          <p:cNvPr id="4" name="Slide Number Placeholder 3"/>
          <p:cNvSpPr>
            <a:spLocks noGrp="1"/>
          </p:cNvSpPr>
          <p:nvPr>
            <p:ph type="sldNum" sz="quarter" idx="5"/>
          </p:nvPr>
        </p:nvSpPr>
        <p:spPr/>
        <p:txBody>
          <a:bodyPr/>
          <a:lstStyle/>
          <a:p>
            <a:fld id="{264A9969-39C6-3142-8385-E79571F850AD}" type="slidenum">
              <a:rPr lang="en-US" smtClean="0"/>
              <a:t>10</a:t>
            </a:fld>
            <a:endParaRPr lang="en-US"/>
          </a:p>
        </p:txBody>
      </p:sp>
    </p:spTree>
    <p:extLst>
      <p:ext uri="{BB962C8B-B14F-4D97-AF65-F5344CB8AC3E}">
        <p14:creationId xmlns:p14="http://schemas.microsoft.com/office/powerpoint/2010/main" val="1522068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our presentation. </a:t>
            </a:r>
          </a:p>
        </p:txBody>
      </p:sp>
      <p:sp>
        <p:nvSpPr>
          <p:cNvPr id="4" name="Slide Number Placeholder 3"/>
          <p:cNvSpPr>
            <a:spLocks noGrp="1"/>
          </p:cNvSpPr>
          <p:nvPr>
            <p:ph type="sldNum" sz="quarter" idx="5"/>
          </p:nvPr>
        </p:nvSpPr>
        <p:spPr/>
        <p:txBody>
          <a:bodyPr/>
          <a:lstStyle/>
          <a:p>
            <a:fld id="{264A9969-39C6-3142-8385-E79571F850AD}" type="slidenum">
              <a:rPr lang="en-US" smtClean="0"/>
              <a:t>11</a:t>
            </a:fld>
            <a:endParaRPr lang="en-US"/>
          </a:p>
        </p:txBody>
      </p:sp>
    </p:spTree>
    <p:extLst>
      <p:ext uri="{BB962C8B-B14F-4D97-AF65-F5344CB8AC3E}">
        <p14:creationId xmlns:p14="http://schemas.microsoft.com/office/powerpoint/2010/main" val="3868384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01775"/>
            <a:ext cx="7772400" cy="1470025"/>
          </a:xfrm>
        </p:spPr>
        <p:txBody>
          <a:bodyPr/>
          <a:lstStyle/>
          <a:p>
            <a:r>
              <a:rPr lang="en-US" sz="4000" b="1" dirty="0">
                <a:solidFill>
                  <a:srgbClr val="0F417D"/>
                </a:solidFill>
              </a:rPr>
              <a:t>Layoff Risk Classification</a:t>
            </a:r>
          </a:p>
        </p:txBody>
      </p:sp>
      <p:sp>
        <p:nvSpPr>
          <p:cNvPr id="3" name="Subtitle 2"/>
          <p:cNvSpPr>
            <a:spLocks noGrp="1"/>
          </p:cNvSpPr>
          <p:nvPr>
            <p:ph type="subTitle" idx="1"/>
          </p:nvPr>
        </p:nvSpPr>
        <p:spPr>
          <a:xfrm>
            <a:off x="370117" y="5037832"/>
            <a:ext cx="5834742" cy="1470026"/>
          </a:xfrm>
        </p:spPr>
        <p:txBody>
          <a:bodyPr>
            <a:normAutofit/>
          </a:bodyPr>
          <a:lstStyle/>
          <a:p>
            <a:pPr algn="l"/>
            <a:r>
              <a:rPr lang="en-US" sz="2000" dirty="0"/>
              <a:t>INFO 6105 — Final Project</a:t>
            </a:r>
          </a:p>
          <a:p>
            <a:pPr algn="l"/>
            <a:r>
              <a:rPr lang="en-US" sz="2000" dirty="0"/>
              <a:t>Presented</a:t>
            </a:r>
            <a:r>
              <a:rPr lang="zh-CN" altLang="en-US" sz="2000" dirty="0"/>
              <a:t> </a:t>
            </a:r>
            <a:r>
              <a:rPr lang="en-US" altLang="zh-CN" sz="2000" dirty="0"/>
              <a:t>by: Pin-Yuan</a:t>
            </a:r>
            <a:r>
              <a:rPr lang="zh-CN" altLang="en-US" sz="2000" dirty="0"/>
              <a:t> </a:t>
            </a:r>
            <a:r>
              <a:rPr lang="en-US" altLang="zh-CN" sz="2000" dirty="0"/>
              <a:t>Tseng, Shirui Zhang, Yixin Mao</a:t>
            </a:r>
          </a:p>
          <a:p>
            <a:pPr algn="l"/>
            <a:r>
              <a:rPr lang="en-US" sz="2000" dirty="0"/>
              <a:t>Date: Dec 8, 2025</a:t>
            </a:r>
          </a:p>
          <a:p>
            <a:endParaRPr lang="en-US" sz="1600" dirty="0"/>
          </a:p>
          <a:p>
            <a:endParaRPr lang="en-US" sz="1600" dirty="0"/>
          </a:p>
        </p:txBody>
      </p:sp>
      <p:sp>
        <p:nvSpPr>
          <p:cNvPr id="5" name="TextBox 4">
            <a:extLst>
              <a:ext uri="{FF2B5EF4-FFF2-40B4-BE49-F238E27FC236}">
                <a16:creationId xmlns:a16="http://schemas.microsoft.com/office/drawing/2014/main" id="{6B119416-ACA3-7B6C-5B08-BA7B0021414E}"/>
              </a:ext>
            </a:extLst>
          </p:cNvPr>
          <p:cNvSpPr txBox="1"/>
          <p:nvPr/>
        </p:nvSpPr>
        <p:spPr>
          <a:xfrm>
            <a:off x="3135087" y="2897652"/>
            <a:ext cx="3069772" cy="646331"/>
          </a:xfrm>
          <a:prstGeom prst="rect">
            <a:avLst/>
          </a:prstGeom>
          <a:noFill/>
        </p:spPr>
        <p:txBody>
          <a:bodyPr wrap="square" rtlCol="0">
            <a:spAutoFit/>
          </a:bodyPr>
          <a:lstStyle/>
          <a:p>
            <a:r>
              <a:rPr lang="en-US" dirty="0">
                <a:solidFill>
                  <a:srgbClr val="282828"/>
                </a:solidFill>
              </a:rPr>
              <a:t>Extract → Learn → Predict</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b="1" dirty="0">
                <a:solidFill>
                  <a:srgbClr val="0F417D"/>
                </a:solidFill>
              </a:rPr>
              <a:t>Problem Statement &amp; Context</a:t>
            </a:r>
          </a:p>
        </p:txBody>
      </p:sp>
      <p:sp>
        <p:nvSpPr>
          <p:cNvPr id="3" name="Content Placeholder 2"/>
          <p:cNvSpPr>
            <a:spLocks noGrp="1"/>
          </p:cNvSpPr>
          <p:nvPr>
            <p:ph idx="1"/>
          </p:nvPr>
        </p:nvSpPr>
        <p:spPr>
          <a:xfrm>
            <a:off x="653142" y="846138"/>
            <a:ext cx="8229600" cy="4525963"/>
          </a:xfrm>
        </p:spPr>
        <p:txBody>
          <a:bodyPr/>
          <a:lstStyle/>
          <a:p>
            <a:endParaRPr dirty="0"/>
          </a:p>
          <a:p>
            <a:r>
              <a:rPr sz="2200" b="0" dirty="0">
                <a:solidFill>
                  <a:srgbClr val="282828"/>
                </a:solidFill>
              </a:rPr>
              <a:t>Tech layoffs surged significantly across 2022–2024.</a:t>
            </a:r>
          </a:p>
          <a:p>
            <a:pPr lvl="1"/>
            <a:r>
              <a:rPr sz="2200" b="0" dirty="0">
                <a:solidFill>
                  <a:srgbClr val="282828"/>
                </a:solidFill>
              </a:rPr>
              <a:t>Need early risk detection for employees, HR, investors.</a:t>
            </a:r>
          </a:p>
          <a:p>
            <a:pPr lvl="1"/>
            <a:r>
              <a:rPr sz="2200" b="0" dirty="0">
                <a:solidFill>
                  <a:srgbClr val="282828"/>
                </a:solidFill>
              </a:rPr>
              <a:t>Goal: Classify companies into High vs Low layoff risk.</a:t>
            </a:r>
          </a:p>
          <a:p>
            <a:pPr lvl="2"/>
            <a:r>
              <a:rPr sz="2200" b="0" dirty="0">
                <a:solidFill>
                  <a:srgbClr val="282828"/>
                </a:solidFill>
              </a:rPr>
              <a:t>High Risk (1): </a:t>
            </a:r>
            <a:r>
              <a:rPr sz="2200" b="0" dirty="0" err="1">
                <a:solidFill>
                  <a:srgbClr val="282828"/>
                </a:solidFill>
              </a:rPr>
              <a:t>layoff_ratio</a:t>
            </a:r>
            <a:r>
              <a:rPr sz="2200" b="0" dirty="0">
                <a:solidFill>
                  <a:srgbClr val="282828"/>
                </a:solidFill>
              </a:rPr>
              <a:t> &gt; 5% OR recent heavy layoffs.</a:t>
            </a:r>
          </a:p>
          <a:p>
            <a:pPr lvl="2"/>
            <a:r>
              <a:rPr sz="2200" b="0" dirty="0">
                <a:solidFill>
                  <a:srgbClr val="282828"/>
                </a:solidFill>
              </a:rPr>
              <a:t>Low Risk (0): otherwise.</a:t>
            </a:r>
            <a:endParaRPr lang="en-US" sz="2200" b="0" dirty="0">
              <a:solidFill>
                <a:srgbClr val="282828"/>
              </a:solidFill>
            </a:endParaRPr>
          </a:p>
          <a:p>
            <a:pPr marL="914400" lvl="2" indent="0">
              <a:buNone/>
            </a:pPr>
            <a:endParaRPr sz="2200" b="0" dirty="0">
              <a:solidFill>
                <a:srgbClr val="282828"/>
              </a:solidFill>
            </a:endParaRPr>
          </a:p>
          <a:p>
            <a:r>
              <a:rPr lang="en-US" sz="2200" b="0" dirty="0">
                <a:solidFill>
                  <a:srgbClr val="282828"/>
                </a:solidFill>
              </a:rPr>
              <a:t>Dataset</a:t>
            </a:r>
            <a:endParaRPr lang="en-US" altLang="zh-CN" sz="2200" dirty="0">
              <a:solidFill>
                <a:srgbClr val="282828"/>
              </a:solidFill>
            </a:endParaRPr>
          </a:p>
          <a:p>
            <a:pPr lvl="1"/>
            <a:r>
              <a:rPr lang="zh-CN" altLang="en-US" sz="2200" dirty="0">
                <a:solidFill>
                  <a:srgbClr val="282828"/>
                </a:solidFill>
              </a:rPr>
              <a:t> </a:t>
            </a:r>
            <a:r>
              <a:rPr sz="2200" dirty="0">
                <a:solidFill>
                  <a:srgbClr val="282828"/>
                </a:solidFill>
              </a:rPr>
              <a:t>Raw Data: 489 companies </a:t>
            </a:r>
            <a:r>
              <a:rPr lang="en-US" sz="2200" dirty="0">
                <a:solidFill>
                  <a:srgbClr val="282828"/>
                </a:solidFill>
              </a:rPr>
              <a:t>(from Kaggle)</a:t>
            </a:r>
          </a:p>
          <a:p>
            <a:pPr lvl="1"/>
            <a:r>
              <a:rPr sz="2200" dirty="0">
                <a:solidFill>
                  <a:srgbClr val="282828"/>
                </a:solidFill>
              </a:rPr>
              <a:t>Cleaned: </a:t>
            </a:r>
            <a:r>
              <a:rPr lang="en-US" sz="2200" dirty="0">
                <a:solidFill>
                  <a:srgbClr val="282828"/>
                </a:solidFill>
              </a:rPr>
              <a:t>142 usable companies after processing</a:t>
            </a:r>
            <a:endParaRPr sz="2200" dirty="0">
              <a:solidFill>
                <a:srgbClr val="28282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sz="3600" b="1" dirty="0">
                <a:solidFill>
                  <a:srgbClr val="0F417D"/>
                </a:solidFill>
              </a:rPr>
              <a:t>Data Extraction &amp; EDA Insights</a:t>
            </a:r>
          </a:p>
        </p:txBody>
      </p:sp>
      <p:sp>
        <p:nvSpPr>
          <p:cNvPr id="3" name="Content Placeholder 2"/>
          <p:cNvSpPr>
            <a:spLocks noGrp="1"/>
          </p:cNvSpPr>
          <p:nvPr>
            <p:ph idx="1"/>
          </p:nvPr>
        </p:nvSpPr>
        <p:spPr>
          <a:xfrm>
            <a:off x="242208" y="394381"/>
            <a:ext cx="3831771" cy="3731306"/>
          </a:xfrm>
        </p:spPr>
        <p:txBody>
          <a:bodyPr>
            <a:normAutofit fontScale="92500" lnSpcReduction="10000"/>
          </a:bodyPr>
          <a:lstStyle/>
          <a:p>
            <a:endParaRPr dirty="0"/>
          </a:p>
          <a:p>
            <a:r>
              <a:rPr lang="en-US" sz="2400" dirty="0"/>
              <a:t>Layoff ratio is heavily right-skewed; most companies &lt;0.2</a:t>
            </a:r>
          </a:p>
          <a:p>
            <a:r>
              <a:rPr lang="en-US" sz="2400" dirty="0"/>
              <a:t>Dataset is strongly imbalanced: 81% high-risk</a:t>
            </a:r>
          </a:p>
          <a:p>
            <a:r>
              <a:rPr lang="en-US" sz="2400" dirty="0"/>
              <a:t>Industry-level differences: enterprise software and social media show highest average layoff ratios, well above 5% threshold</a:t>
            </a:r>
          </a:p>
        </p:txBody>
      </p:sp>
      <p:pic>
        <p:nvPicPr>
          <p:cNvPr id="8" name="Picture 7">
            <a:extLst>
              <a:ext uri="{FF2B5EF4-FFF2-40B4-BE49-F238E27FC236}">
                <a16:creationId xmlns:a16="http://schemas.microsoft.com/office/drawing/2014/main" id="{EE020549-4DE5-EE55-E571-43C3AB803759}"/>
              </a:ext>
            </a:extLst>
          </p:cNvPr>
          <p:cNvPicPr>
            <a:picLocks noChangeAspect="1"/>
          </p:cNvPicPr>
          <p:nvPr/>
        </p:nvPicPr>
        <p:blipFill>
          <a:blip r:embed="rId3"/>
          <a:stretch>
            <a:fillRect/>
          </a:stretch>
        </p:blipFill>
        <p:spPr>
          <a:xfrm>
            <a:off x="242208" y="4047374"/>
            <a:ext cx="8229600" cy="2810626"/>
          </a:xfrm>
          <a:prstGeom prst="rect">
            <a:avLst/>
          </a:prstGeom>
        </p:spPr>
      </p:pic>
      <p:pic>
        <p:nvPicPr>
          <p:cNvPr id="6" name="Picture 5">
            <a:extLst>
              <a:ext uri="{FF2B5EF4-FFF2-40B4-BE49-F238E27FC236}">
                <a16:creationId xmlns:a16="http://schemas.microsoft.com/office/drawing/2014/main" id="{51298F52-BA78-DF6B-608D-93402CF84DAC}"/>
              </a:ext>
            </a:extLst>
          </p:cNvPr>
          <p:cNvPicPr>
            <a:picLocks noChangeAspect="1"/>
          </p:cNvPicPr>
          <p:nvPr/>
        </p:nvPicPr>
        <p:blipFill>
          <a:blip r:embed="rId4"/>
          <a:stretch>
            <a:fillRect/>
          </a:stretch>
        </p:blipFill>
        <p:spPr>
          <a:xfrm>
            <a:off x="4040118" y="877121"/>
            <a:ext cx="5103882" cy="31012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sz="4000" b="1" dirty="0">
                <a:solidFill>
                  <a:srgbClr val="0F417D"/>
                </a:solidFill>
              </a:rPr>
              <a:t>Layoff Trends Over Time</a:t>
            </a:r>
          </a:p>
        </p:txBody>
      </p:sp>
      <p:sp>
        <p:nvSpPr>
          <p:cNvPr id="3" name="Content Placeholder 2"/>
          <p:cNvSpPr>
            <a:spLocks noGrp="1"/>
          </p:cNvSpPr>
          <p:nvPr>
            <p:ph idx="1"/>
          </p:nvPr>
        </p:nvSpPr>
        <p:spPr>
          <a:xfrm>
            <a:off x="457200" y="571500"/>
            <a:ext cx="8229600" cy="3842657"/>
          </a:xfrm>
        </p:spPr>
        <p:txBody>
          <a:bodyPr>
            <a:normAutofit/>
          </a:bodyPr>
          <a:lstStyle/>
          <a:p>
            <a:pPr marL="0" indent="0">
              <a:buNone/>
            </a:pPr>
            <a:endParaRPr dirty="0"/>
          </a:p>
          <a:p>
            <a:r>
              <a:rPr lang="en-US" sz="2400" dirty="0"/>
              <a:t>Layoff activity shows clear spikes in late 2022 and early 2023, driven by macroeconomic and tech-sector slowdowns.</a:t>
            </a:r>
          </a:p>
          <a:p>
            <a:r>
              <a:rPr lang="en-US" sz="2400" dirty="0"/>
              <a:t>Peaks are concentrated in tech and fintech companies, indicating heightened workforce risk during these periods.</a:t>
            </a:r>
          </a:p>
          <a:p>
            <a:pPr marL="0" indent="0">
              <a:buNone/>
            </a:pPr>
            <a:endParaRPr sz="2200" b="0" dirty="0">
              <a:solidFill>
                <a:srgbClr val="282828"/>
              </a:solidFill>
            </a:endParaRPr>
          </a:p>
        </p:txBody>
      </p:sp>
      <p:pic>
        <p:nvPicPr>
          <p:cNvPr id="5" name="Picture 4">
            <a:extLst>
              <a:ext uri="{FF2B5EF4-FFF2-40B4-BE49-F238E27FC236}">
                <a16:creationId xmlns:a16="http://schemas.microsoft.com/office/drawing/2014/main" id="{13AA0775-8748-73D7-767F-0528566DE3BB}"/>
              </a:ext>
            </a:extLst>
          </p:cNvPr>
          <p:cNvPicPr>
            <a:picLocks noChangeAspect="1"/>
          </p:cNvPicPr>
          <p:nvPr/>
        </p:nvPicPr>
        <p:blipFill>
          <a:blip r:embed="rId3"/>
          <a:stretch>
            <a:fillRect/>
          </a:stretch>
        </p:blipFill>
        <p:spPr>
          <a:xfrm>
            <a:off x="178589" y="2979737"/>
            <a:ext cx="8508211" cy="33067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b="1" dirty="0">
                <a:solidFill>
                  <a:srgbClr val="0F417D"/>
                </a:solidFill>
              </a:rPr>
              <a:t>Modeling Strategy (Learn Phase)</a:t>
            </a:r>
          </a:p>
        </p:txBody>
      </p:sp>
      <p:sp>
        <p:nvSpPr>
          <p:cNvPr id="3" name="Content Placeholder 2"/>
          <p:cNvSpPr>
            <a:spLocks noGrp="1"/>
          </p:cNvSpPr>
          <p:nvPr>
            <p:ph idx="1"/>
          </p:nvPr>
        </p:nvSpPr>
        <p:spPr>
          <a:xfrm>
            <a:off x="457200" y="1556657"/>
            <a:ext cx="8229600" cy="4525963"/>
          </a:xfrm>
        </p:spPr>
        <p:txBody>
          <a:bodyPr>
            <a:normAutofit fontScale="77500" lnSpcReduction="20000"/>
          </a:bodyPr>
          <a:lstStyle/>
          <a:p>
            <a:r>
              <a:rPr lang="en-US" b="1" dirty="0"/>
              <a:t>Preprocessing</a:t>
            </a:r>
            <a:endParaRPr lang="en-US" dirty="0"/>
          </a:p>
          <a:p>
            <a:pPr lvl="1"/>
            <a:r>
              <a:rPr lang="en-US" dirty="0"/>
              <a:t>One-hot encode categorical columns</a:t>
            </a:r>
          </a:p>
          <a:p>
            <a:pPr lvl="1"/>
            <a:r>
              <a:rPr lang="en-US" dirty="0"/>
              <a:t>Train/Test split = 80/20 with stratify (due to imbalance)</a:t>
            </a:r>
          </a:p>
          <a:p>
            <a:pPr lvl="1"/>
            <a:r>
              <a:rPr lang="en-US" dirty="0" err="1"/>
              <a:t>class_weight</a:t>
            </a:r>
            <a:r>
              <a:rPr lang="en-US" dirty="0"/>
              <a:t>='balanced' for fairness</a:t>
            </a:r>
          </a:p>
          <a:p>
            <a:pPr marL="342900" lvl="1" indent="-342900">
              <a:buFont typeface="Arial"/>
              <a:buChar char="•"/>
            </a:pPr>
            <a:r>
              <a:rPr lang="en-US" sz="3200" b="1" dirty="0"/>
              <a:t>Models evaluated</a:t>
            </a:r>
            <a:endParaRPr lang="en-US" dirty="0"/>
          </a:p>
          <a:p>
            <a:pPr lvl="1"/>
            <a:r>
              <a:rPr lang="en-US" dirty="0"/>
              <a:t>Decision Tree (primary)</a:t>
            </a:r>
          </a:p>
          <a:p>
            <a:pPr lvl="1"/>
            <a:r>
              <a:rPr lang="en-US" dirty="0"/>
              <a:t>Random Forest</a:t>
            </a:r>
          </a:p>
          <a:p>
            <a:r>
              <a:rPr lang="en-US" b="1" dirty="0"/>
              <a:t>Metrics</a:t>
            </a:r>
            <a:endParaRPr lang="en-US" dirty="0"/>
          </a:p>
          <a:p>
            <a:pPr lvl="1"/>
            <a:r>
              <a:rPr lang="en-US" sz="2900" dirty="0"/>
              <a:t>Accuracy</a:t>
            </a:r>
          </a:p>
          <a:p>
            <a:pPr lvl="1"/>
            <a:r>
              <a:rPr lang="en-US" sz="2900" dirty="0"/>
              <a:t>F1 (positive)</a:t>
            </a:r>
          </a:p>
          <a:p>
            <a:pPr lvl="1"/>
            <a:r>
              <a:rPr lang="en-US" sz="2900" dirty="0"/>
              <a:t>Recall (positive)</a:t>
            </a:r>
          </a:p>
          <a:p>
            <a:pPr lvl="1"/>
            <a:r>
              <a:rPr lang="en-US" sz="2900" dirty="0"/>
              <a:t>ROC-AUC</a:t>
            </a:r>
          </a:p>
          <a:p>
            <a:pPr lvl="1"/>
            <a:r>
              <a:rPr lang="en-US" sz="2900" dirty="0"/>
              <a:t>Confusion Matrix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b="1">
                <a:solidFill>
                  <a:srgbClr val="0F417D"/>
                </a:solidFill>
              </a:rPr>
              <a:t>Decision Tree Results</a:t>
            </a:r>
          </a:p>
        </p:txBody>
      </p:sp>
      <p:sp>
        <p:nvSpPr>
          <p:cNvPr id="3" name="Content Placeholder 2"/>
          <p:cNvSpPr>
            <a:spLocks noGrp="1"/>
          </p:cNvSpPr>
          <p:nvPr>
            <p:ph idx="1"/>
          </p:nvPr>
        </p:nvSpPr>
        <p:spPr>
          <a:xfrm>
            <a:off x="457200" y="846138"/>
            <a:ext cx="8229600" cy="4525963"/>
          </a:xfrm>
        </p:spPr>
        <p:txBody>
          <a:bodyPr/>
          <a:lstStyle/>
          <a:p>
            <a:endParaRPr dirty="0"/>
          </a:p>
          <a:p>
            <a:r>
              <a:rPr sz="2200" b="0" dirty="0">
                <a:solidFill>
                  <a:srgbClr val="282828"/>
                </a:solidFill>
              </a:rPr>
              <a:t>Accuracy = 0.931 | F1 = 0.955 | Recall = 0.913 | ROC-AUC = 0.971</a:t>
            </a:r>
          </a:p>
          <a:p>
            <a:pPr lvl="1"/>
            <a:r>
              <a:rPr sz="2200" b="0" dirty="0">
                <a:solidFill>
                  <a:srgbClr val="282828"/>
                </a:solidFill>
              </a:rPr>
              <a:t>False Negatives = 2 (old layoffs &gt;1000 days)</a:t>
            </a:r>
          </a:p>
          <a:p>
            <a:pPr lvl="1"/>
            <a:r>
              <a:rPr sz="2200" b="0" dirty="0">
                <a:solidFill>
                  <a:srgbClr val="282828"/>
                </a:solidFill>
              </a:rPr>
              <a:t>False Positives = 0</a:t>
            </a:r>
          </a:p>
        </p:txBody>
      </p:sp>
      <p:pic>
        <p:nvPicPr>
          <p:cNvPr id="8" name="Picture 7">
            <a:extLst>
              <a:ext uri="{FF2B5EF4-FFF2-40B4-BE49-F238E27FC236}">
                <a16:creationId xmlns:a16="http://schemas.microsoft.com/office/drawing/2014/main" id="{9D6EA1C3-826A-2A0C-F849-A0E129A4E1B5}"/>
              </a:ext>
            </a:extLst>
          </p:cNvPr>
          <p:cNvPicPr>
            <a:picLocks noChangeAspect="1"/>
          </p:cNvPicPr>
          <p:nvPr/>
        </p:nvPicPr>
        <p:blipFill>
          <a:blip r:embed="rId3"/>
          <a:stretch>
            <a:fillRect/>
          </a:stretch>
        </p:blipFill>
        <p:spPr>
          <a:xfrm>
            <a:off x="3850145" y="2602125"/>
            <a:ext cx="5293855" cy="3673133"/>
          </a:xfrm>
          <a:prstGeom prst="rect">
            <a:avLst/>
          </a:prstGeom>
        </p:spPr>
      </p:pic>
      <p:sp>
        <p:nvSpPr>
          <p:cNvPr id="10" name="TextBox 9">
            <a:extLst>
              <a:ext uri="{FF2B5EF4-FFF2-40B4-BE49-F238E27FC236}">
                <a16:creationId xmlns:a16="http://schemas.microsoft.com/office/drawing/2014/main" id="{111FE6C0-A870-D3F9-8291-0A98767684D0}"/>
              </a:ext>
            </a:extLst>
          </p:cNvPr>
          <p:cNvSpPr txBox="1"/>
          <p:nvPr/>
        </p:nvSpPr>
        <p:spPr>
          <a:xfrm>
            <a:off x="457200" y="3135937"/>
            <a:ext cx="3516086" cy="3139321"/>
          </a:xfrm>
          <a:prstGeom prst="rect">
            <a:avLst/>
          </a:prstGeom>
          <a:noFill/>
        </p:spPr>
        <p:txBody>
          <a:bodyPr wrap="square">
            <a:spAutoFit/>
          </a:bodyPr>
          <a:lstStyle/>
          <a:p>
            <a:pPr>
              <a:buNone/>
            </a:pPr>
            <a:r>
              <a:rPr lang="en-US" b="1" dirty="0"/>
              <a:t>Error Analysis</a:t>
            </a:r>
            <a:endParaRPr lang="en-US" dirty="0"/>
          </a:p>
          <a:p>
            <a:pPr>
              <a:buFont typeface="Arial" panose="020B0604020202020204" pitchFamily="34" charset="0"/>
              <a:buChar char="•"/>
            </a:pPr>
            <a:r>
              <a:rPr lang="zh-CN" altLang="en-US" b="1" dirty="0"/>
              <a:t> </a:t>
            </a:r>
            <a:r>
              <a:rPr lang="en-US" b="1" dirty="0"/>
              <a:t>False Negatives = 2</a:t>
            </a:r>
            <a:r>
              <a:rPr lang="en-US" dirty="0"/>
              <a:t> (Apollo, Rock Content)</a:t>
            </a:r>
          </a:p>
          <a:p>
            <a:pPr marL="742950" lvl="1" indent="-285750">
              <a:buFont typeface="Arial" panose="020B0604020202020204" pitchFamily="34" charset="0"/>
              <a:buChar char="•"/>
            </a:pPr>
            <a:r>
              <a:rPr lang="en-US" dirty="0"/>
              <a:t>High historical layoff ratios</a:t>
            </a:r>
          </a:p>
          <a:p>
            <a:pPr marL="742950" lvl="1" indent="-285750">
              <a:buFont typeface="Arial" panose="020B0604020202020204" pitchFamily="34" charset="0"/>
              <a:buChar char="•"/>
            </a:pPr>
            <a:r>
              <a:rPr lang="en-US" dirty="0"/>
              <a:t>But layoffs occurred </a:t>
            </a:r>
            <a:r>
              <a:rPr lang="en-US" b="1" dirty="0"/>
              <a:t>&gt;1000 days ago</a:t>
            </a:r>
            <a:endParaRPr lang="en-US" dirty="0"/>
          </a:p>
          <a:p>
            <a:pPr marL="742950" lvl="1" indent="-285750">
              <a:buFont typeface="Arial" panose="020B0604020202020204" pitchFamily="34" charset="0"/>
              <a:buChar char="•"/>
            </a:pPr>
            <a:r>
              <a:rPr lang="en-US" dirty="0"/>
              <a:t>Tree down-weights old layoffs</a:t>
            </a:r>
          </a:p>
          <a:p>
            <a:pPr>
              <a:buFont typeface="Arial" panose="020B0604020202020204" pitchFamily="34" charset="0"/>
              <a:buChar char="•"/>
            </a:pPr>
            <a:r>
              <a:rPr lang="zh-CN" altLang="en-US" b="1" dirty="0"/>
              <a:t> </a:t>
            </a:r>
            <a:r>
              <a:rPr lang="en-US" b="1" dirty="0"/>
              <a:t>False Positives = 0</a:t>
            </a:r>
            <a:endParaRPr lang="en-US" dirty="0"/>
          </a:p>
          <a:p>
            <a:pPr marL="742950" lvl="1" indent="-285750">
              <a:buFont typeface="Arial" panose="020B0604020202020204" pitchFamily="34" charset="0"/>
              <a:buChar char="•"/>
            </a:pPr>
            <a:r>
              <a:rPr lang="en-US" dirty="0"/>
              <a:t>Very good precision &amp; interpretability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b="1">
                <a:solidFill>
                  <a:srgbClr val="0F417D"/>
                </a:solidFill>
              </a:rPr>
              <a:t>Random Forest Results</a:t>
            </a:r>
          </a:p>
        </p:txBody>
      </p:sp>
      <p:sp>
        <p:nvSpPr>
          <p:cNvPr id="3" name="Content Placeholder 2"/>
          <p:cNvSpPr>
            <a:spLocks noGrp="1"/>
          </p:cNvSpPr>
          <p:nvPr>
            <p:ph idx="1"/>
          </p:nvPr>
        </p:nvSpPr>
        <p:spPr>
          <a:xfrm>
            <a:off x="457200" y="1045029"/>
            <a:ext cx="8229600" cy="4525963"/>
          </a:xfrm>
        </p:spPr>
        <p:txBody>
          <a:bodyPr/>
          <a:lstStyle/>
          <a:p>
            <a:endParaRPr dirty="0"/>
          </a:p>
          <a:p>
            <a:r>
              <a:rPr sz="2200" b="0" dirty="0">
                <a:solidFill>
                  <a:srgbClr val="282828"/>
                </a:solidFill>
              </a:rPr>
              <a:t>Accuracy = 0.862 | F1 = 0.920 | Recall = 1.000 | ROC-AUC = 0.928</a:t>
            </a:r>
          </a:p>
          <a:p>
            <a:pPr lvl="1"/>
            <a:r>
              <a:rPr sz="2200" b="0" dirty="0">
                <a:solidFill>
                  <a:srgbClr val="282828"/>
                </a:solidFill>
              </a:rPr>
              <a:t>False Positives = 4 → overpredicts risk</a:t>
            </a:r>
          </a:p>
        </p:txBody>
      </p:sp>
      <p:pic>
        <p:nvPicPr>
          <p:cNvPr id="5" name="Picture 4">
            <a:extLst>
              <a:ext uri="{FF2B5EF4-FFF2-40B4-BE49-F238E27FC236}">
                <a16:creationId xmlns:a16="http://schemas.microsoft.com/office/drawing/2014/main" id="{822D892B-0EE6-801C-0C24-752FAC61A55E}"/>
              </a:ext>
            </a:extLst>
          </p:cNvPr>
          <p:cNvPicPr>
            <a:picLocks noChangeAspect="1"/>
          </p:cNvPicPr>
          <p:nvPr/>
        </p:nvPicPr>
        <p:blipFill>
          <a:blip r:embed="rId3"/>
          <a:stretch>
            <a:fillRect/>
          </a:stretch>
        </p:blipFill>
        <p:spPr>
          <a:xfrm>
            <a:off x="97972" y="2770731"/>
            <a:ext cx="5617029" cy="3725989"/>
          </a:xfrm>
          <a:prstGeom prst="rect">
            <a:avLst/>
          </a:prstGeom>
        </p:spPr>
      </p:pic>
      <p:sp>
        <p:nvSpPr>
          <p:cNvPr id="7" name="TextBox 6">
            <a:extLst>
              <a:ext uri="{FF2B5EF4-FFF2-40B4-BE49-F238E27FC236}">
                <a16:creationId xmlns:a16="http://schemas.microsoft.com/office/drawing/2014/main" id="{D2D0582C-48E2-FB17-B89C-62BD53464802}"/>
              </a:ext>
            </a:extLst>
          </p:cNvPr>
          <p:cNvSpPr txBox="1"/>
          <p:nvPr/>
        </p:nvSpPr>
        <p:spPr>
          <a:xfrm>
            <a:off x="5029200" y="3756562"/>
            <a:ext cx="4114800" cy="1754326"/>
          </a:xfrm>
          <a:prstGeom prst="rect">
            <a:avLst/>
          </a:prstGeom>
          <a:noFill/>
        </p:spPr>
        <p:txBody>
          <a:bodyPr wrap="square">
            <a:spAutoFit/>
          </a:bodyPr>
          <a:lstStyle/>
          <a:p>
            <a:pPr>
              <a:buNone/>
            </a:pPr>
            <a:r>
              <a:rPr lang="en-US" b="1" dirty="0"/>
              <a:t>Interpretation</a:t>
            </a:r>
            <a:endParaRPr lang="en-US" dirty="0"/>
          </a:p>
          <a:p>
            <a:pPr>
              <a:buFont typeface="Arial" panose="020B0604020202020204" pitchFamily="34" charset="0"/>
              <a:buChar char="•"/>
            </a:pPr>
            <a:r>
              <a:rPr lang="en-US" dirty="0"/>
              <a:t>Captures all positives (perfect recall)</a:t>
            </a:r>
          </a:p>
          <a:p>
            <a:pPr>
              <a:buFont typeface="Arial" panose="020B0604020202020204" pitchFamily="34" charset="0"/>
              <a:buChar char="•"/>
            </a:pPr>
            <a:r>
              <a:rPr lang="en-US" dirty="0"/>
              <a:t>But produces </a:t>
            </a:r>
            <a:r>
              <a:rPr lang="en-US" b="1" dirty="0"/>
              <a:t>4 false positives</a:t>
            </a:r>
            <a:endParaRPr lang="en-US" dirty="0"/>
          </a:p>
          <a:p>
            <a:pPr>
              <a:buFont typeface="Arial" panose="020B0604020202020204" pitchFamily="34" charset="0"/>
              <a:buChar char="•"/>
            </a:pPr>
            <a:r>
              <a:rPr lang="en-US" dirty="0"/>
              <a:t>Less accurate overall</a:t>
            </a:r>
          </a:p>
          <a:p>
            <a:pPr>
              <a:buFont typeface="Arial" panose="020B0604020202020204" pitchFamily="34" charset="0"/>
              <a:buChar char="•"/>
            </a:pPr>
            <a:r>
              <a:rPr lang="en-US" dirty="0"/>
              <a:t>Better for “don’t miss any risky company” use cases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324"/>
            <a:ext cx="8229600" cy="1143000"/>
          </a:xfrm>
        </p:spPr>
        <p:txBody>
          <a:bodyPr/>
          <a:lstStyle/>
          <a:p>
            <a:r>
              <a:rPr sz="4000" b="1" dirty="0">
                <a:solidFill>
                  <a:srgbClr val="0F417D"/>
                </a:solidFill>
              </a:rPr>
              <a:t>Prediction Demo (Predict Phase)</a:t>
            </a:r>
          </a:p>
        </p:txBody>
      </p:sp>
      <p:sp>
        <p:nvSpPr>
          <p:cNvPr id="3" name="Content Placeholder 2"/>
          <p:cNvSpPr>
            <a:spLocks noGrp="1"/>
          </p:cNvSpPr>
          <p:nvPr>
            <p:ph idx="1"/>
          </p:nvPr>
        </p:nvSpPr>
        <p:spPr>
          <a:xfrm>
            <a:off x="457200" y="1504724"/>
            <a:ext cx="8229600" cy="4525963"/>
          </a:xfrm>
        </p:spPr>
        <p:txBody>
          <a:bodyPr/>
          <a:lstStyle/>
          <a:p>
            <a:pPr marL="0" indent="0">
              <a:buNone/>
            </a:pPr>
            <a:r>
              <a:rPr lang="en-US" sz="2000" b="1" dirty="0"/>
              <a:t>Using the full-dataset trained Decision Tree</a:t>
            </a:r>
            <a:endParaRPr lang="en-US" sz="2000" dirty="0"/>
          </a:p>
        </p:txBody>
      </p:sp>
      <p:graphicFrame>
        <p:nvGraphicFramePr>
          <p:cNvPr id="4" name="Table 3"/>
          <p:cNvGraphicFramePr>
            <a:graphicFrameLocks noGrp="1"/>
          </p:cNvGraphicFramePr>
          <p:nvPr>
            <p:extLst>
              <p:ext uri="{D42A27DB-BD31-4B8C-83A1-F6EECF244321}">
                <p14:modId xmlns:p14="http://schemas.microsoft.com/office/powerpoint/2010/main" val="3589358321"/>
              </p:ext>
            </p:extLst>
          </p:nvPr>
        </p:nvGraphicFramePr>
        <p:xfrm>
          <a:off x="4571999" y="1949164"/>
          <a:ext cx="4114801" cy="3235802"/>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36128">
                  <a:extLst>
                    <a:ext uri="{9D8B030D-6E8A-4147-A177-3AD203B41FA5}">
                      <a16:colId xmlns:a16="http://schemas.microsoft.com/office/drawing/2014/main" val="20001"/>
                    </a:ext>
                  </a:extLst>
                </a:gridCol>
                <a:gridCol w="792523">
                  <a:extLst>
                    <a:ext uri="{9D8B030D-6E8A-4147-A177-3AD203B41FA5}">
                      <a16:colId xmlns:a16="http://schemas.microsoft.com/office/drawing/2014/main" val="20002"/>
                    </a:ext>
                  </a:extLst>
                </a:gridCol>
                <a:gridCol w="614550">
                  <a:extLst>
                    <a:ext uri="{9D8B030D-6E8A-4147-A177-3AD203B41FA5}">
                      <a16:colId xmlns:a16="http://schemas.microsoft.com/office/drawing/2014/main" val="20003"/>
                    </a:ext>
                  </a:extLst>
                </a:gridCol>
              </a:tblGrid>
              <a:tr h="544255">
                <a:tc>
                  <a:txBody>
                    <a:bodyPr/>
                    <a:lstStyle/>
                    <a:p>
                      <a:pPr>
                        <a:defRPr b="1">
                          <a:solidFill>
                            <a:srgbClr val="FFFFFF"/>
                          </a:solidFill>
                        </a:defRPr>
                      </a:pPr>
                      <a:r>
                        <a:rPr sz="1400" dirty="0"/>
                        <a:t>Company</a:t>
                      </a:r>
                    </a:p>
                  </a:txBody>
                  <a:tcPr>
                    <a:solidFill>
                      <a:srgbClr val="0F417D"/>
                    </a:solidFill>
                  </a:tcPr>
                </a:tc>
                <a:tc>
                  <a:txBody>
                    <a:bodyPr/>
                    <a:lstStyle/>
                    <a:p>
                      <a:pPr>
                        <a:defRPr b="1">
                          <a:solidFill>
                            <a:srgbClr val="FFFFFF"/>
                          </a:solidFill>
                        </a:defRPr>
                      </a:pPr>
                      <a:r>
                        <a:rPr sz="1400" dirty="0"/>
                        <a:t>Industry</a:t>
                      </a:r>
                    </a:p>
                  </a:txBody>
                  <a:tcPr>
                    <a:solidFill>
                      <a:srgbClr val="0F417D"/>
                    </a:solidFill>
                  </a:tcPr>
                </a:tc>
                <a:tc>
                  <a:txBody>
                    <a:bodyPr/>
                    <a:lstStyle/>
                    <a:p>
                      <a:pPr>
                        <a:defRPr b="1">
                          <a:solidFill>
                            <a:srgbClr val="FFFFFF"/>
                          </a:solidFill>
                        </a:defRPr>
                      </a:pPr>
                      <a:r>
                        <a:rPr sz="1400" dirty="0" err="1"/>
                        <a:t>layoff_ratio</a:t>
                      </a:r>
                      <a:endParaRPr sz="1400" dirty="0"/>
                    </a:p>
                  </a:txBody>
                  <a:tcPr>
                    <a:solidFill>
                      <a:srgbClr val="0F417D"/>
                    </a:solidFill>
                  </a:tcPr>
                </a:tc>
                <a:tc>
                  <a:txBody>
                    <a:bodyPr/>
                    <a:lstStyle/>
                    <a:p>
                      <a:pPr>
                        <a:defRPr b="1">
                          <a:solidFill>
                            <a:srgbClr val="FFFFFF"/>
                          </a:solidFill>
                        </a:defRPr>
                      </a:pPr>
                      <a:r>
                        <a:rPr sz="1400" dirty="0"/>
                        <a:t>pred</a:t>
                      </a:r>
                    </a:p>
                  </a:txBody>
                  <a:tcPr>
                    <a:solidFill>
                      <a:srgbClr val="0F417D"/>
                    </a:solidFill>
                  </a:tcPr>
                </a:tc>
                <a:extLst>
                  <a:ext uri="{0D108BD9-81ED-4DB2-BD59-A6C34878D82A}">
                    <a16:rowId xmlns:a16="http://schemas.microsoft.com/office/drawing/2014/main" val="10000"/>
                  </a:ext>
                </a:extLst>
              </a:tr>
              <a:tr h="320150">
                <a:tc>
                  <a:txBody>
                    <a:bodyPr/>
                    <a:lstStyle/>
                    <a:p>
                      <a:pPr>
                        <a:defRPr sz="1800"/>
                      </a:pPr>
                      <a:r>
                        <a:rPr sz="1400"/>
                        <a:t>addepar</a:t>
                      </a:r>
                    </a:p>
                  </a:txBody>
                  <a:tcPr/>
                </a:tc>
                <a:tc>
                  <a:txBody>
                    <a:bodyPr/>
                    <a:lstStyle/>
                    <a:p>
                      <a:pPr>
                        <a:defRPr sz="1800"/>
                      </a:pPr>
                      <a:r>
                        <a:rPr sz="1400"/>
                        <a:t>fintech</a:t>
                      </a:r>
                    </a:p>
                  </a:txBody>
                  <a:tcPr/>
                </a:tc>
                <a:tc>
                  <a:txBody>
                    <a:bodyPr/>
                    <a:lstStyle/>
                    <a:p>
                      <a:pPr>
                        <a:defRPr sz="1800"/>
                      </a:pPr>
                      <a:r>
                        <a:rPr sz="1400"/>
                        <a:t>0.03</a:t>
                      </a:r>
                    </a:p>
                  </a:txBody>
                  <a:tcPr/>
                </a:tc>
                <a:tc>
                  <a:txBody>
                    <a:bodyPr/>
                    <a:lstStyle/>
                    <a:p>
                      <a:pPr>
                        <a:defRPr sz="1800"/>
                      </a:pPr>
                      <a:r>
                        <a:rPr sz="1400"/>
                        <a:t>0</a:t>
                      </a:r>
                    </a:p>
                  </a:txBody>
                  <a:tcPr/>
                </a:tc>
                <a:extLst>
                  <a:ext uri="{0D108BD9-81ED-4DB2-BD59-A6C34878D82A}">
                    <a16:rowId xmlns:a16="http://schemas.microsoft.com/office/drawing/2014/main" val="10001"/>
                  </a:ext>
                </a:extLst>
              </a:tr>
              <a:tr h="320150">
                <a:tc>
                  <a:txBody>
                    <a:bodyPr/>
                    <a:lstStyle/>
                    <a:p>
                      <a:pPr>
                        <a:defRPr sz="1800"/>
                      </a:pPr>
                      <a:r>
                        <a:rPr sz="1400"/>
                        <a:t>aqua security</a:t>
                      </a:r>
                    </a:p>
                  </a:txBody>
                  <a:tcPr/>
                </a:tc>
                <a:tc>
                  <a:txBody>
                    <a:bodyPr/>
                    <a:lstStyle/>
                    <a:p>
                      <a:pPr>
                        <a:defRPr sz="1800"/>
                      </a:pPr>
                      <a:r>
                        <a:rPr sz="1400" dirty="0"/>
                        <a:t>security</a:t>
                      </a:r>
                    </a:p>
                  </a:txBody>
                  <a:tcPr/>
                </a:tc>
                <a:tc>
                  <a:txBody>
                    <a:bodyPr/>
                    <a:lstStyle/>
                    <a:p>
                      <a:pPr>
                        <a:defRPr sz="1800"/>
                      </a:pPr>
                      <a:r>
                        <a:rPr sz="1400"/>
                        <a:t>0.10</a:t>
                      </a:r>
                    </a:p>
                  </a:txBody>
                  <a:tcPr/>
                </a:tc>
                <a:tc>
                  <a:txBody>
                    <a:bodyPr/>
                    <a:lstStyle/>
                    <a:p>
                      <a:pPr>
                        <a:defRPr sz="1800" b="1">
                          <a:solidFill>
                            <a:srgbClr val="C80000"/>
                          </a:solidFill>
                        </a:defRPr>
                      </a:pPr>
                      <a:r>
                        <a:rPr sz="1400"/>
                        <a:t>1</a:t>
                      </a:r>
                    </a:p>
                  </a:txBody>
                  <a:tcPr/>
                </a:tc>
                <a:extLst>
                  <a:ext uri="{0D108BD9-81ED-4DB2-BD59-A6C34878D82A}">
                    <a16:rowId xmlns:a16="http://schemas.microsoft.com/office/drawing/2014/main" val="10002"/>
                  </a:ext>
                </a:extLst>
              </a:tr>
              <a:tr h="320150">
                <a:tc>
                  <a:txBody>
                    <a:bodyPr/>
                    <a:lstStyle/>
                    <a:p>
                      <a:pPr>
                        <a:defRPr sz="1800"/>
                      </a:pPr>
                      <a:r>
                        <a:rPr sz="1400"/>
                        <a:t>superrare</a:t>
                      </a:r>
                    </a:p>
                  </a:txBody>
                  <a:tcPr/>
                </a:tc>
                <a:tc>
                  <a:txBody>
                    <a:bodyPr/>
                    <a:lstStyle/>
                    <a:p>
                      <a:pPr>
                        <a:defRPr sz="1800"/>
                      </a:pPr>
                      <a:r>
                        <a:rPr sz="1400" dirty="0"/>
                        <a:t>blockchain</a:t>
                      </a:r>
                    </a:p>
                  </a:txBody>
                  <a:tcPr/>
                </a:tc>
                <a:tc>
                  <a:txBody>
                    <a:bodyPr/>
                    <a:lstStyle/>
                    <a:p>
                      <a:pPr>
                        <a:defRPr sz="1800"/>
                      </a:pPr>
                      <a:r>
                        <a:rPr sz="1400" dirty="0"/>
                        <a:t>0.12</a:t>
                      </a:r>
                    </a:p>
                  </a:txBody>
                  <a:tcPr/>
                </a:tc>
                <a:tc>
                  <a:txBody>
                    <a:bodyPr/>
                    <a:lstStyle/>
                    <a:p>
                      <a:pPr>
                        <a:defRPr sz="1800" b="1">
                          <a:solidFill>
                            <a:srgbClr val="C80000"/>
                          </a:solidFill>
                        </a:defRPr>
                      </a:pPr>
                      <a:r>
                        <a:rPr sz="1400" dirty="0"/>
                        <a:t>1</a:t>
                      </a:r>
                    </a:p>
                  </a:txBody>
                  <a:tcPr/>
                </a:tc>
                <a:extLst>
                  <a:ext uri="{0D108BD9-81ED-4DB2-BD59-A6C34878D82A}">
                    <a16:rowId xmlns:a16="http://schemas.microsoft.com/office/drawing/2014/main" val="10003"/>
                  </a:ext>
                </a:extLst>
              </a:tr>
              <a:tr h="320150">
                <a:tc>
                  <a:txBody>
                    <a:bodyPr/>
                    <a:lstStyle/>
                    <a:p>
                      <a:pPr>
                        <a:defRPr sz="1800"/>
                      </a:pPr>
                      <a:r>
                        <a:rPr sz="1400"/>
                        <a:t>informatica</a:t>
                      </a:r>
                    </a:p>
                  </a:txBody>
                  <a:tcPr/>
                </a:tc>
                <a:tc>
                  <a:txBody>
                    <a:bodyPr/>
                    <a:lstStyle/>
                    <a:p>
                      <a:pPr>
                        <a:defRPr sz="1800"/>
                      </a:pPr>
                      <a:r>
                        <a:rPr sz="1400"/>
                        <a:t>cloud</a:t>
                      </a:r>
                    </a:p>
                  </a:txBody>
                  <a:tcPr/>
                </a:tc>
                <a:tc>
                  <a:txBody>
                    <a:bodyPr/>
                    <a:lstStyle/>
                    <a:p>
                      <a:pPr>
                        <a:defRPr sz="1800"/>
                      </a:pPr>
                      <a:r>
                        <a:rPr sz="1400"/>
                        <a:t>0.07</a:t>
                      </a:r>
                    </a:p>
                  </a:txBody>
                  <a:tcPr/>
                </a:tc>
                <a:tc>
                  <a:txBody>
                    <a:bodyPr/>
                    <a:lstStyle/>
                    <a:p>
                      <a:pPr>
                        <a:defRPr sz="1800" b="1">
                          <a:solidFill>
                            <a:srgbClr val="C80000"/>
                          </a:solidFill>
                        </a:defRPr>
                      </a:pPr>
                      <a:r>
                        <a:rPr sz="1400"/>
                        <a:t>1</a:t>
                      </a:r>
                    </a:p>
                  </a:txBody>
                  <a:tcPr/>
                </a:tc>
                <a:extLst>
                  <a:ext uri="{0D108BD9-81ED-4DB2-BD59-A6C34878D82A}">
                    <a16:rowId xmlns:a16="http://schemas.microsoft.com/office/drawing/2014/main" val="10004"/>
                  </a:ext>
                </a:extLst>
              </a:tr>
              <a:tr h="320150">
                <a:tc>
                  <a:txBody>
                    <a:bodyPr/>
                    <a:lstStyle/>
                    <a:p>
                      <a:pPr>
                        <a:defRPr sz="1800"/>
                      </a:pPr>
                      <a:r>
                        <a:rPr sz="1400"/>
                        <a:t>bigcommerce</a:t>
                      </a:r>
                    </a:p>
                  </a:txBody>
                  <a:tcPr/>
                </a:tc>
                <a:tc>
                  <a:txBody>
                    <a:bodyPr/>
                    <a:lstStyle/>
                    <a:p>
                      <a:pPr>
                        <a:defRPr sz="1800"/>
                      </a:pPr>
                      <a:r>
                        <a:rPr sz="1400"/>
                        <a:t>ecommerce</a:t>
                      </a:r>
                    </a:p>
                  </a:txBody>
                  <a:tcPr/>
                </a:tc>
                <a:tc>
                  <a:txBody>
                    <a:bodyPr/>
                    <a:lstStyle/>
                    <a:p>
                      <a:pPr>
                        <a:defRPr sz="1800"/>
                      </a:pPr>
                      <a:r>
                        <a:rPr sz="1400"/>
                        <a:t>0.12</a:t>
                      </a:r>
                    </a:p>
                  </a:txBody>
                  <a:tcPr/>
                </a:tc>
                <a:tc>
                  <a:txBody>
                    <a:bodyPr/>
                    <a:lstStyle/>
                    <a:p>
                      <a:pPr>
                        <a:defRPr sz="1800" b="1">
                          <a:solidFill>
                            <a:srgbClr val="C80000"/>
                          </a:solidFill>
                        </a:defRPr>
                      </a:pPr>
                      <a:r>
                        <a:rPr sz="1400"/>
                        <a:t>1</a:t>
                      </a:r>
                    </a:p>
                  </a:txBody>
                  <a:tcPr/>
                </a:tc>
                <a:extLst>
                  <a:ext uri="{0D108BD9-81ED-4DB2-BD59-A6C34878D82A}">
                    <a16:rowId xmlns:a16="http://schemas.microsoft.com/office/drawing/2014/main" val="10005"/>
                  </a:ext>
                </a:extLst>
              </a:tr>
              <a:tr h="404761">
                <a:tc>
                  <a:txBody>
                    <a:bodyPr/>
                    <a:lstStyle/>
                    <a:p>
                      <a:pPr>
                        <a:defRPr sz="1800"/>
                      </a:pPr>
                      <a:r>
                        <a:rPr sz="1400"/>
                        <a:t>wonder</a:t>
                      </a:r>
                    </a:p>
                  </a:txBody>
                  <a:tcPr/>
                </a:tc>
                <a:tc>
                  <a:txBody>
                    <a:bodyPr/>
                    <a:lstStyle/>
                    <a:p>
                      <a:pPr>
                        <a:defRPr sz="1800"/>
                      </a:pPr>
                      <a:r>
                        <a:rPr sz="1400"/>
                        <a:t>food delivery</a:t>
                      </a:r>
                    </a:p>
                  </a:txBody>
                  <a:tcPr/>
                </a:tc>
                <a:tc>
                  <a:txBody>
                    <a:bodyPr/>
                    <a:lstStyle/>
                    <a:p>
                      <a:pPr>
                        <a:defRPr sz="1800"/>
                      </a:pPr>
                      <a:r>
                        <a:rPr sz="1400" dirty="0"/>
                        <a:t>0.07</a:t>
                      </a:r>
                    </a:p>
                  </a:txBody>
                  <a:tcPr/>
                </a:tc>
                <a:tc>
                  <a:txBody>
                    <a:bodyPr/>
                    <a:lstStyle/>
                    <a:p>
                      <a:pPr>
                        <a:defRPr sz="1800" b="1">
                          <a:solidFill>
                            <a:srgbClr val="C80000"/>
                          </a:solidFill>
                        </a:defRPr>
                      </a:pPr>
                      <a:r>
                        <a:rPr sz="1400"/>
                        <a:t>1</a:t>
                      </a:r>
                    </a:p>
                  </a:txBody>
                  <a:tcPr/>
                </a:tc>
                <a:extLst>
                  <a:ext uri="{0D108BD9-81ED-4DB2-BD59-A6C34878D82A}">
                    <a16:rowId xmlns:a16="http://schemas.microsoft.com/office/drawing/2014/main" val="10006"/>
                  </a:ext>
                </a:extLst>
              </a:tr>
              <a:tr h="365886">
                <a:tc>
                  <a:txBody>
                    <a:bodyPr/>
                    <a:lstStyle/>
                    <a:p>
                      <a:pPr>
                        <a:defRPr sz="1800"/>
                      </a:pPr>
                      <a:r>
                        <a:rPr sz="1400"/>
                        <a:t>citizen</a:t>
                      </a:r>
                    </a:p>
                  </a:txBody>
                  <a:tcPr/>
                </a:tc>
                <a:tc>
                  <a:txBody>
                    <a:bodyPr/>
                    <a:lstStyle/>
                    <a:p>
                      <a:pPr>
                        <a:defRPr sz="1800"/>
                      </a:pPr>
                      <a:r>
                        <a:rPr sz="1400" dirty="0"/>
                        <a:t>surveillance</a:t>
                      </a:r>
                    </a:p>
                  </a:txBody>
                  <a:tcPr/>
                </a:tc>
                <a:tc>
                  <a:txBody>
                    <a:bodyPr/>
                    <a:lstStyle/>
                    <a:p>
                      <a:pPr>
                        <a:defRPr sz="1800"/>
                      </a:pPr>
                      <a:r>
                        <a:rPr sz="1400"/>
                        <a:t>0.027</a:t>
                      </a:r>
                    </a:p>
                  </a:txBody>
                  <a:tcPr/>
                </a:tc>
                <a:tc>
                  <a:txBody>
                    <a:bodyPr/>
                    <a:lstStyle/>
                    <a:p>
                      <a:pPr>
                        <a:defRPr sz="1800"/>
                      </a:pPr>
                      <a:r>
                        <a:rPr sz="1400"/>
                        <a:t>0</a:t>
                      </a:r>
                    </a:p>
                  </a:txBody>
                  <a:tcPr/>
                </a:tc>
                <a:extLst>
                  <a:ext uri="{0D108BD9-81ED-4DB2-BD59-A6C34878D82A}">
                    <a16:rowId xmlns:a16="http://schemas.microsoft.com/office/drawing/2014/main" val="10007"/>
                  </a:ext>
                </a:extLst>
              </a:tr>
              <a:tr h="320150">
                <a:tc>
                  <a:txBody>
                    <a:bodyPr/>
                    <a:lstStyle/>
                    <a:p>
                      <a:pPr>
                        <a:defRPr sz="1800"/>
                      </a:pPr>
                      <a:r>
                        <a:rPr sz="1400"/>
                        <a:t>vimeo</a:t>
                      </a:r>
                    </a:p>
                  </a:txBody>
                  <a:tcPr/>
                </a:tc>
                <a:tc>
                  <a:txBody>
                    <a:bodyPr/>
                    <a:lstStyle/>
                    <a:p>
                      <a:pPr>
                        <a:defRPr sz="1800"/>
                      </a:pPr>
                      <a:r>
                        <a:rPr sz="1400" dirty="0"/>
                        <a:t>media</a:t>
                      </a:r>
                    </a:p>
                  </a:txBody>
                  <a:tcPr/>
                </a:tc>
                <a:tc>
                  <a:txBody>
                    <a:bodyPr/>
                    <a:lstStyle/>
                    <a:p>
                      <a:pPr>
                        <a:defRPr sz="1800"/>
                      </a:pPr>
                      <a:r>
                        <a:rPr sz="1400" dirty="0"/>
                        <a:t>0.12</a:t>
                      </a:r>
                    </a:p>
                  </a:txBody>
                  <a:tcPr/>
                </a:tc>
                <a:tc>
                  <a:txBody>
                    <a:bodyPr/>
                    <a:lstStyle/>
                    <a:p>
                      <a:pPr>
                        <a:defRPr sz="1800" b="1">
                          <a:solidFill>
                            <a:srgbClr val="C80000"/>
                          </a:solidFill>
                        </a:defRPr>
                      </a:pPr>
                      <a:r>
                        <a:rPr sz="1400" dirty="0"/>
                        <a:t>1</a:t>
                      </a:r>
                    </a:p>
                  </a:txBody>
                  <a:tcPr/>
                </a:tc>
                <a:extLst>
                  <a:ext uri="{0D108BD9-81ED-4DB2-BD59-A6C34878D82A}">
                    <a16:rowId xmlns:a16="http://schemas.microsoft.com/office/drawing/2014/main" val="10008"/>
                  </a:ext>
                </a:extLst>
              </a:tr>
            </a:tbl>
          </a:graphicData>
        </a:graphic>
      </p:graphicFrame>
      <p:sp>
        <p:nvSpPr>
          <p:cNvPr id="8" name="TextBox 7">
            <a:extLst>
              <a:ext uri="{FF2B5EF4-FFF2-40B4-BE49-F238E27FC236}">
                <a16:creationId xmlns:a16="http://schemas.microsoft.com/office/drawing/2014/main" id="{186B1DD3-1160-841C-71F6-8D85C6369367}"/>
              </a:ext>
            </a:extLst>
          </p:cNvPr>
          <p:cNvSpPr txBox="1"/>
          <p:nvPr/>
        </p:nvSpPr>
        <p:spPr>
          <a:xfrm>
            <a:off x="457199" y="2045645"/>
            <a:ext cx="4114800" cy="3139321"/>
          </a:xfrm>
          <a:prstGeom prst="rect">
            <a:avLst/>
          </a:prstGeom>
          <a:noFill/>
        </p:spPr>
        <p:txBody>
          <a:bodyPr wrap="square">
            <a:spAutoFit/>
          </a:bodyPr>
          <a:lstStyle/>
          <a:p>
            <a:r>
              <a:rPr lang="en-US" dirty="0"/>
              <a:t>• High </a:t>
            </a:r>
            <a:r>
              <a:rPr lang="en-US" dirty="0" err="1"/>
              <a:t>layoff_ratio</a:t>
            </a:r>
            <a:r>
              <a:rPr lang="en-US" dirty="0"/>
              <a:t> companies (≥0.07–0.10) consistently predicted as high risk </a:t>
            </a:r>
          </a:p>
          <a:p>
            <a:r>
              <a:rPr lang="en-US" dirty="0"/>
              <a:t> </a:t>
            </a:r>
          </a:p>
          <a:p>
            <a:r>
              <a:rPr lang="en-US" dirty="0"/>
              <a:t>• Predictions align with industry patterns (security, blockchain, ecommerce)</a:t>
            </a:r>
          </a:p>
          <a:p>
            <a:endParaRPr lang="en-US" dirty="0"/>
          </a:p>
          <a:p>
            <a:r>
              <a:rPr lang="en-US" dirty="0"/>
              <a:t>• Low ratio companies (&lt;0.04) predicted as low risk → strong precision</a:t>
            </a:r>
          </a:p>
          <a:p>
            <a:endParaRPr lang="en-US" dirty="0"/>
          </a:p>
          <a:p>
            <a:r>
              <a:rPr lang="en-US" dirty="0"/>
              <a:t>• Interpretability: model behavior matches decision tree split thresholds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b="1" dirty="0">
                <a:solidFill>
                  <a:srgbClr val="0F417D"/>
                </a:solidFill>
              </a:rPr>
              <a:t>Usefulness &amp; Users</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b="1" dirty="0"/>
              <a:t>Who benefits?</a:t>
            </a:r>
          </a:p>
          <a:p>
            <a:pPr lvl="1"/>
            <a:r>
              <a:rPr lang="en-US" sz="2200" dirty="0">
                <a:solidFill>
                  <a:srgbClr val="282828"/>
                </a:solidFill>
              </a:rPr>
              <a:t>Employees: Avoid unstable companies.</a:t>
            </a:r>
            <a:endParaRPr lang="en-US" sz="2200" b="0" dirty="0">
              <a:solidFill>
                <a:srgbClr val="282828"/>
              </a:solidFill>
            </a:endParaRPr>
          </a:p>
          <a:p>
            <a:pPr lvl="1"/>
            <a:r>
              <a:rPr sz="2200" b="0" dirty="0">
                <a:solidFill>
                  <a:srgbClr val="282828"/>
                </a:solidFill>
              </a:rPr>
              <a:t>HR: Workforce planning &amp; forecasting.</a:t>
            </a:r>
            <a:endParaRPr lang="en-US" sz="2200" b="0" dirty="0">
              <a:solidFill>
                <a:srgbClr val="282828"/>
              </a:solidFill>
            </a:endParaRPr>
          </a:p>
          <a:p>
            <a:pPr lvl="1"/>
            <a:r>
              <a:rPr sz="2200" b="0" dirty="0">
                <a:solidFill>
                  <a:srgbClr val="282828"/>
                </a:solidFill>
              </a:rPr>
              <a:t>Investors/Analysts: Stability insights.</a:t>
            </a:r>
          </a:p>
          <a:p>
            <a:pPr lvl="1"/>
            <a:r>
              <a:rPr sz="2200" b="0" dirty="0">
                <a:solidFill>
                  <a:srgbClr val="282828"/>
                </a:solidFill>
              </a:rPr>
              <a:t>Policy Makers: Track sector-level layoffs.</a:t>
            </a:r>
            <a:endParaRPr lang="en-US" sz="2200" b="0" dirty="0">
              <a:solidFill>
                <a:srgbClr val="282828"/>
              </a:solidFill>
            </a:endParaRPr>
          </a:p>
          <a:p>
            <a:pPr lvl="1"/>
            <a:endParaRPr sz="2200" b="0" dirty="0">
              <a:solidFill>
                <a:srgbClr val="282828"/>
              </a:solidFill>
            </a:endParaRPr>
          </a:p>
          <a:p>
            <a:r>
              <a:rPr lang="en-US" sz="2800" b="1" dirty="0"/>
              <a:t>Why it works?</a:t>
            </a:r>
            <a:endParaRPr lang="en-US" sz="2800" dirty="0"/>
          </a:p>
          <a:p>
            <a:pPr lvl="1"/>
            <a:r>
              <a:rPr lang="en-US" sz="2200" dirty="0">
                <a:solidFill>
                  <a:srgbClr val="282828"/>
                </a:solidFill>
              </a:rPr>
              <a:t>Transparent Decision Tree</a:t>
            </a:r>
          </a:p>
          <a:p>
            <a:pPr lvl="1"/>
            <a:r>
              <a:rPr lang="en-US" sz="2200" dirty="0">
                <a:solidFill>
                  <a:srgbClr val="282828"/>
                </a:solidFill>
              </a:rPr>
              <a:t>Uses only public data</a:t>
            </a:r>
          </a:p>
          <a:p>
            <a:pPr lvl="1"/>
            <a:r>
              <a:rPr lang="en-US" sz="2200" dirty="0">
                <a:solidFill>
                  <a:srgbClr val="282828"/>
                </a:solidFill>
              </a:rPr>
              <a:t>Easy to extend and deploy</a:t>
            </a:r>
          </a:p>
          <a:p>
            <a:pPr marL="0" indent="0">
              <a:buNone/>
            </a:pPr>
            <a:endParaRPr sz="2200" dirty="0">
              <a:solidFill>
                <a:srgbClr val="28282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b="1" dirty="0">
                <a:solidFill>
                  <a:srgbClr val="0F417D"/>
                </a:solidFill>
              </a:rPr>
              <a:t>Future Work &amp; </a:t>
            </a:r>
            <a:r>
              <a:rPr lang="en-US" sz="4000" b="1" dirty="0">
                <a:solidFill>
                  <a:srgbClr val="0F417D"/>
                </a:solidFill>
              </a:rPr>
              <a:t>Improvements</a:t>
            </a:r>
            <a:endParaRPr sz="4000" b="1" dirty="0">
              <a:solidFill>
                <a:srgbClr val="0F417D"/>
              </a:solidFill>
            </a:endParaRPr>
          </a:p>
        </p:txBody>
      </p:sp>
      <p:sp>
        <p:nvSpPr>
          <p:cNvPr id="3" name="Content Placeholder 2"/>
          <p:cNvSpPr>
            <a:spLocks noGrp="1"/>
          </p:cNvSpPr>
          <p:nvPr>
            <p:ph idx="1"/>
          </p:nvPr>
        </p:nvSpPr>
        <p:spPr>
          <a:xfrm>
            <a:off x="457200" y="1398362"/>
            <a:ext cx="8229600" cy="5255305"/>
          </a:xfrm>
        </p:spPr>
        <p:txBody>
          <a:bodyPr>
            <a:normAutofit fontScale="55000" lnSpcReduction="20000"/>
          </a:bodyPr>
          <a:lstStyle/>
          <a:p>
            <a:r>
              <a:rPr lang="en-US" sz="4400" b="1" dirty="0"/>
              <a:t>More Resources</a:t>
            </a:r>
          </a:p>
          <a:p>
            <a:r>
              <a:rPr lang="en-US" sz="4200" dirty="0"/>
              <a:t>Integrate richer company data</a:t>
            </a:r>
          </a:p>
          <a:p>
            <a:pPr lvl="1"/>
            <a:r>
              <a:rPr lang="en-US" sz="4200" dirty="0"/>
              <a:t>Financial health (revenue, growth, cash flow)</a:t>
            </a:r>
          </a:p>
          <a:p>
            <a:pPr lvl="1"/>
            <a:r>
              <a:rPr lang="en-US" sz="4200" dirty="0"/>
              <a:t>Hiring freeze &amp; headcount trends</a:t>
            </a:r>
          </a:p>
          <a:p>
            <a:pPr lvl="1"/>
            <a:r>
              <a:rPr lang="en-US" sz="4200" dirty="0"/>
              <a:t>Funding events and investor signals</a:t>
            </a:r>
          </a:p>
          <a:p>
            <a:pPr lvl="1"/>
            <a:r>
              <a:rPr lang="en-US" sz="4200" dirty="0"/>
              <a:t>News sentiment &amp; stock volatility</a:t>
            </a:r>
          </a:p>
          <a:p>
            <a:r>
              <a:rPr lang="en-US" sz="4200" dirty="0"/>
              <a:t>Add time-series features (recent layoff spikes)</a:t>
            </a:r>
          </a:p>
          <a:p>
            <a:r>
              <a:rPr lang="en-US" sz="4200" dirty="0"/>
              <a:t>Explore advanced models (</a:t>
            </a:r>
            <a:r>
              <a:rPr lang="en-US" sz="4200" dirty="0" err="1"/>
              <a:t>XGBoost</a:t>
            </a:r>
            <a:r>
              <a:rPr lang="en-US" sz="4200" dirty="0"/>
              <a:t> / </a:t>
            </a:r>
            <a:r>
              <a:rPr lang="en-US" sz="4200" dirty="0" err="1"/>
              <a:t>LightGBM</a:t>
            </a:r>
            <a:r>
              <a:rPr lang="en-US" sz="4200" dirty="0"/>
              <a:t> / </a:t>
            </a:r>
            <a:r>
              <a:rPr lang="en-US" sz="4200" dirty="0" err="1"/>
              <a:t>AutoML</a:t>
            </a:r>
            <a:r>
              <a:rPr lang="en-US" sz="4200" dirty="0"/>
              <a:t>)</a:t>
            </a:r>
          </a:p>
          <a:p>
            <a:pPr marL="0" indent="0">
              <a:buNone/>
            </a:pPr>
            <a:endParaRPr lang="en-US" dirty="0"/>
          </a:p>
          <a:p>
            <a:r>
              <a:rPr lang="en-US" sz="4400" b="1" dirty="0"/>
              <a:t>Fairness &amp; Bias Reduction</a:t>
            </a:r>
          </a:p>
          <a:p>
            <a:pPr lvl="1">
              <a:spcBef>
                <a:spcPts val="520"/>
              </a:spcBef>
            </a:pPr>
            <a:r>
              <a:rPr lang="en-US" sz="4200" dirty="0"/>
              <a:t>Evaluate fairness across industries and company sizes</a:t>
            </a:r>
          </a:p>
          <a:p>
            <a:pPr lvl="1">
              <a:spcBef>
                <a:spcPts val="520"/>
              </a:spcBef>
            </a:pPr>
            <a:r>
              <a:rPr lang="en-US" sz="4200" dirty="0"/>
              <a:t>Mitigate industry bias via reweighting or stratified training</a:t>
            </a:r>
          </a:p>
          <a:p>
            <a:pPr lvl="1">
              <a:spcBef>
                <a:spcPts val="520"/>
              </a:spcBef>
            </a:pPr>
            <a:r>
              <a:rPr lang="en-US" sz="4200" dirty="0"/>
              <a:t>Apply post-hoc calibration to avoid overestimating risk</a:t>
            </a:r>
          </a:p>
          <a:p>
            <a:pPr lvl="1">
              <a:spcBef>
                <a:spcPts val="520"/>
              </a:spcBef>
            </a:pPr>
            <a:r>
              <a:rPr lang="en-US" sz="4200" dirty="0"/>
              <a:t>Enhance model transparency using SHAP / LIME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802076-3C76-13E4-1F0E-BF9EBA0E93D0}"/>
              </a:ext>
            </a:extLst>
          </p:cNvPr>
          <p:cNvSpPr>
            <a:spLocks noGrp="1"/>
          </p:cNvSpPr>
          <p:nvPr>
            <p:ph idx="1"/>
          </p:nvPr>
        </p:nvSpPr>
        <p:spPr>
          <a:xfrm>
            <a:off x="2928257" y="2721428"/>
            <a:ext cx="3341914" cy="2925764"/>
          </a:xfrm>
        </p:spPr>
        <p:txBody>
          <a:bodyPr>
            <a:normAutofit/>
          </a:bodyPr>
          <a:lstStyle/>
          <a:p>
            <a:pPr marL="0" indent="0">
              <a:buNone/>
            </a:pPr>
            <a:r>
              <a:rPr lang="en-US" sz="4800" b="1" dirty="0">
                <a:solidFill>
                  <a:srgbClr val="0F417D"/>
                </a:solidFill>
              </a:rPr>
              <a:t>Thank</a:t>
            </a:r>
            <a:r>
              <a:rPr lang="zh-CN" altLang="en-US" sz="4800" b="1" dirty="0">
                <a:solidFill>
                  <a:srgbClr val="0F417D"/>
                </a:solidFill>
              </a:rPr>
              <a:t> </a:t>
            </a:r>
            <a:r>
              <a:rPr lang="en-US" altLang="zh-CN" sz="4800" b="1" dirty="0">
                <a:solidFill>
                  <a:srgbClr val="0F417D"/>
                </a:solidFill>
              </a:rPr>
              <a:t>you</a:t>
            </a:r>
            <a:r>
              <a:rPr lang="zh-CN" altLang="en-US" sz="4800" b="1" dirty="0">
                <a:solidFill>
                  <a:srgbClr val="0F417D"/>
                </a:solidFill>
              </a:rPr>
              <a:t>  </a:t>
            </a:r>
            <a:endParaRPr lang="en-US" sz="4800" dirty="0"/>
          </a:p>
        </p:txBody>
      </p:sp>
    </p:spTree>
    <p:extLst>
      <p:ext uri="{BB962C8B-B14F-4D97-AF65-F5344CB8AC3E}">
        <p14:creationId xmlns:p14="http://schemas.microsoft.com/office/powerpoint/2010/main" val="33666587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Frame</Template>
  <TotalTime>4237</TotalTime>
  <Words>1074</Words>
  <Application>Microsoft Macintosh PowerPoint</Application>
  <PresentationFormat>On-screen Show (4:3)</PresentationFormat>
  <Paragraphs>158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Layoff Risk Classification</vt:lpstr>
      <vt:lpstr>Problem Statement &amp; Context</vt:lpstr>
      <vt:lpstr>Data Extraction &amp; EDA Insights</vt:lpstr>
      <vt:lpstr>Layoff Trends Over Time</vt:lpstr>
      <vt:lpstr>Modeling Strategy (Learn Phase)</vt:lpstr>
      <vt:lpstr>Decision Tree Results</vt:lpstr>
      <vt:lpstr>Random Forest Results</vt:lpstr>
      <vt:lpstr>Prediction Demo (Predict Phase)</vt:lpstr>
      <vt:lpstr>Usefulness &amp; Users</vt:lpstr>
      <vt:lpstr>Future Work &amp; Improvements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Shirui Zhang</cp:lastModifiedBy>
  <cp:revision>6</cp:revision>
  <dcterms:created xsi:type="dcterms:W3CDTF">2013-01-27T09:14:16Z</dcterms:created>
  <dcterms:modified xsi:type="dcterms:W3CDTF">2025-12-11T00:13:22Z</dcterms:modified>
  <cp:category/>
</cp:coreProperties>
</file>