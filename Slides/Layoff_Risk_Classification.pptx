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68"/>
  </p:normalViewPr>
  <p:slideViewPr>
    <p:cSldViewPr snapToGrid="0" snapToObjects="1">
      <p:cViewPr varScale="1">
        <p:scale>
          <a:sx n="127" d="100"/>
          <a:sy n="127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F417D"/>
                </a:solidFill>
              </a:rPr>
              <a:t>Layoff Risk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117" y="5037832"/>
            <a:ext cx="5834742" cy="1470026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INFO 6105 — Final Project</a:t>
            </a:r>
          </a:p>
          <a:p>
            <a:pPr algn="l"/>
            <a:r>
              <a:rPr lang="en-US" sz="2000" dirty="0"/>
              <a:t>Presented</a:t>
            </a:r>
            <a:r>
              <a:rPr lang="zh-CN" altLang="en-US" sz="2000" dirty="0"/>
              <a:t> </a:t>
            </a:r>
            <a:r>
              <a:rPr lang="en-US" altLang="zh-CN" sz="2000" dirty="0"/>
              <a:t>by: Pin-Yuan</a:t>
            </a:r>
            <a:r>
              <a:rPr lang="zh-CN" altLang="en-US" sz="2000" dirty="0"/>
              <a:t> </a:t>
            </a:r>
            <a:r>
              <a:rPr lang="en-US" altLang="zh-CN" sz="2000" dirty="0"/>
              <a:t>Tseng, Shirui Zhang, Yixin Mao</a:t>
            </a:r>
          </a:p>
          <a:p>
            <a:pPr algn="l"/>
            <a:r>
              <a:rPr lang="en-US" sz="2000" dirty="0"/>
              <a:t>Date: Dec 8, 2025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19416-ACA3-7B6C-5B08-BA7B0021414E}"/>
              </a:ext>
            </a:extLst>
          </p:cNvPr>
          <p:cNvSpPr txBox="1"/>
          <p:nvPr/>
        </p:nvSpPr>
        <p:spPr>
          <a:xfrm>
            <a:off x="3135087" y="2897652"/>
            <a:ext cx="306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Extract → Learn → Predict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F417D"/>
                </a:solidFill>
              </a:rPr>
              <a:t>Problem Statement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2" y="84613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200" b="0" dirty="0">
                <a:solidFill>
                  <a:srgbClr val="282828"/>
                </a:solidFill>
              </a:rPr>
              <a:t>Tech layoffs surged significantly across 2022–2024.</a:t>
            </a:r>
          </a:p>
          <a:p>
            <a:pPr lvl="1"/>
            <a:r>
              <a:rPr sz="2200" b="0" dirty="0">
                <a:solidFill>
                  <a:srgbClr val="282828"/>
                </a:solidFill>
              </a:rPr>
              <a:t>Need early risk detection for employees, HR, investors.</a:t>
            </a:r>
          </a:p>
          <a:p>
            <a:pPr lvl="1"/>
            <a:r>
              <a:rPr sz="2200" b="0" dirty="0">
                <a:solidFill>
                  <a:srgbClr val="282828"/>
                </a:solidFill>
              </a:rPr>
              <a:t>Goal: Classify companies into High vs Low layoff risk.</a:t>
            </a:r>
          </a:p>
          <a:p>
            <a:pPr lvl="2"/>
            <a:r>
              <a:rPr sz="2200" b="0" dirty="0">
                <a:solidFill>
                  <a:srgbClr val="282828"/>
                </a:solidFill>
              </a:rPr>
              <a:t>High Risk (1): </a:t>
            </a:r>
            <a:r>
              <a:rPr sz="2200" b="0" dirty="0" err="1">
                <a:solidFill>
                  <a:srgbClr val="282828"/>
                </a:solidFill>
              </a:rPr>
              <a:t>layoff_ratio</a:t>
            </a:r>
            <a:r>
              <a:rPr sz="2200" b="0" dirty="0">
                <a:solidFill>
                  <a:srgbClr val="282828"/>
                </a:solidFill>
              </a:rPr>
              <a:t> &gt; 5% OR recent heavy layoffs.</a:t>
            </a:r>
          </a:p>
          <a:p>
            <a:pPr lvl="2"/>
            <a:r>
              <a:rPr sz="2200" b="0" dirty="0">
                <a:solidFill>
                  <a:srgbClr val="282828"/>
                </a:solidFill>
              </a:rPr>
              <a:t>Low Risk (0): otherwise.</a:t>
            </a:r>
            <a:endParaRPr lang="en-US" sz="2200" b="0" dirty="0">
              <a:solidFill>
                <a:srgbClr val="282828"/>
              </a:solidFill>
            </a:endParaRPr>
          </a:p>
          <a:p>
            <a:pPr marL="914400" lvl="2" indent="0">
              <a:buNone/>
            </a:pPr>
            <a:endParaRPr sz="2200" b="0" dirty="0">
              <a:solidFill>
                <a:srgbClr val="282828"/>
              </a:solidFill>
            </a:endParaRPr>
          </a:p>
          <a:p>
            <a:r>
              <a:rPr lang="en-US" sz="2200" b="0" dirty="0">
                <a:solidFill>
                  <a:srgbClr val="282828"/>
                </a:solidFill>
              </a:rPr>
              <a:t>Dataset</a:t>
            </a:r>
            <a:endParaRPr lang="en-US" altLang="zh-CN" sz="2200" dirty="0">
              <a:solidFill>
                <a:srgbClr val="282828"/>
              </a:solidFill>
            </a:endParaRPr>
          </a:p>
          <a:p>
            <a:pPr lvl="1"/>
            <a:r>
              <a:rPr lang="zh-CN" altLang="en-US" sz="2200" dirty="0">
                <a:solidFill>
                  <a:srgbClr val="282828"/>
                </a:solidFill>
              </a:rPr>
              <a:t> </a:t>
            </a:r>
            <a:r>
              <a:rPr sz="2200" dirty="0">
                <a:solidFill>
                  <a:srgbClr val="282828"/>
                </a:solidFill>
              </a:rPr>
              <a:t>Raw Data: 489 companies </a:t>
            </a:r>
            <a:r>
              <a:rPr lang="en-US" sz="2200" dirty="0">
                <a:solidFill>
                  <a:srgbClr val="282828"/>
                </a:solidFill>
              </a:rPr>
              <a:t>(from Kaggle)</a:t>
            </a:r>
          </a:p>
          <a:p>
            <a:pPr lvl="1"/>
            <a:r>
              <a:rPr sz="2200" dirty="0">
                <a:solidFill>
                  <a:srgbClr val="282828"/>
                </a:solidFill>
              </a:rPr>
              <a:t>Cleaned: </a:t>
            </a:r>
            <a:r>
              <a:rPr lang="en-US" sz="2200" dirty="0">
                <a:solidFill>
                  <a:srgbClr val="282828"/>
                </a:solidFill>
              </a:rPr>
              <a:t>142 usable companies after processing</a:t>
            </a:r>
            <a:endParaRPr sz="220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F417D"/>
                </a:solidFill>
              </a:rPr>
              <a:t>Data Extraction &amp; 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208" y="394381"/>
            <a:ext cx="3831771" cy="3731306"/>
          </a:xfrm>
        </p:spPr>
        <p:txBody>
          <a:bodyPr/>
          <a:lstStyle/>
          <a:p>
            <a:endParaRPr dirty="0"/>
          </a:p>
          <a:p>
            <a:r>
              <a:rPr lang="en-US" sz="2400" dirty="0"/>
              <a:t>Layoff ratio is heavily right-skewed; most companies &lt;0.2</a:t>
            </a:r>
          </a:p>
          <a:p>
            <a:r>
              <a:rPr lang="en-US" sz="2400" dirty="0"/>
              <a:t>Dataset is strongly imbalanced: 81% high-risk</a:t>
            </a:r>
          </a:p>
          <a:p>
            <a:r>
              <a:rPr lang="en-US" sz="2400" dirty="0"/>
              <a:t>Industry-level differences in high-risk rates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20549-4DE5-EE55-E571-43C3AB80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8" y="3978411"/>
            <a:ext cx="8229600" cy="2810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83545-8EAA-A5AD-10E9-D882817C6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237" y="890294"/>
            <a:ext cx="4517571" cy="29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sz="4000" b="1" dirty="0">
                <a:solidFill>
                  <a:srgbClr val="0F417D"/>
                </a:solidFill>
              </a:rPr>
              <a:t>Layoff Trends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38426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lang="en-US" sz="2400" dirty="0"/>
              <a:t>Layoff activity shows clear spikes in late 2022 and early 2023, driven by macroeconomic and tech-sector slowdowns.</a:t>
            </a:r>
          </a:p>
          <a:p>
            <a:r>
              <a:rPr lang="en-US" sz="2400" dirty="0"/>
              <a:t>Peaks are concentrated in tech and fintech companies, indicating heightened workforce risk during these periods.</a:t>
            </a:r>
          </a:p>
          <a:p>
            <a:pPr marL="0" indent="0">
              <a:buNone/>
            </a:pPr>
            <a:endParaRPr sz="2200" b="0" dirty="0">
              <a:solidFill>
                <a:srgbClr val="28282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A0775-8748-73D7-767F-0528566DE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89" y="2979737"/>
            <a:ext cx="8508211" cy="3306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F417D"/>
                </a:solidFill>
              </a:rPr>
              <a:t>Modeling Strategy (Learn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657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Preprocessing</a:t>
            </a:r>
            <a:endParaRPr lang="en-US" dirty="0"/>
          </a:p>
          <a:p>
            <a:pPr lvl="1"/>
            <a:r>
              <a:rPr lang="en-US" dirty="0"/>
              <a:t>One-hot encode categorical columns</a:t>
            </a:r>
          </a:p>
          <a:p>
            <a:pPr lvl="1"/>
            <a:r>
              <a:rPr lang="en-US" dirty="0"/>
              <a:t>Train/Test split = 80/20 with stratify (due to imbalance)</a:t>
            </a:r>
          </a:p>
          <a:p>
            <a:pPr lvl="1"/>
            <a:r>
              <a:rPr lang="en-US" dirty="0" err="1"/>
              <a:t>class_weight</a:t>
            </a:r>
            <a:r>
              <a:rPr lang="en-US" dirty="0"/>
              <a:t>='balanced' for fairness</a:t>
            </a:r>
          </a:p>
          <a:p>
            <a:pPr marL="342900" lvl="1" indent="-342900">
              <a:buFont typeface="Arial"/>
              <a:buChar char="•"/>
            </a:pPr>
            <a:r>
              <a:rPr lang="en-US" sz="3200" b="1" dirty="0"/>
              <a:t>Models evaluated</a:t>
            </a:r>
            <a:endParaRPr lang="en-US" dirty="0"/>
          </a:p>
          <a:p>
            <a:pPr lvl="1"/>
            <a:r>
              <a:rPr lang="en-US" dirty="0"/>
              <a:t>Decision Tree (primary)</a:t>
            </a:r>
          </a:p>
          <a:p>
            <a:pPr lvl="1"/>
            <a:r>
              <a:rPr lang="en-US" dirty="0"/>
              <a:t>Random Forest</a:t>
            </a:r>
          </a:p>
          <a:p>
            <a:r>
              <a:rPr lang="en-US" b="1" dirty="0"/>
              <a:t>Metrics</a:t>
            </a:r>
            <a:endParaRPr lang="en-US" dirty="0"/>
          </a:p>
          <a:p>
            <a:pPr lvl="1"/>
            <a:r>
              <a:rPr lang="en-US" sz="2900" dirty="0"/>
              <a:t>Accuracy</a:t>
            </a:r>
          </a:p>
          <a:p>
            <a:pPr lvl="1"/>
            <a:r>
              <a:rPr lang="en-US" sz="2900" dirty="0"/>
              <a:t>F1 (positive)</a:t>
            </a:r>
          </a:p>
          <a:p>
            <a:pPr lvl="1"/>
            <a:r>
              <a:rPr lang="en-US" sz="2900" dirty="0"/>
              <a:t>Recall (positive)</a:t>
            </a:r>
          </a:p>
          <a:p>
            <a:pPr lvl="1"/>
            <a:r>
              <a:rPr lang="en-US" sz="2900" dirty="0"/>
              <a:t>ROC-AUC</a:t>
            </a:r>
          </a:p>
          <a:p>
            <a:pPr lvl="1"/>
            <a:r>
              <a:rPr lang="en-US" sz="2900" dirty="0"/>
              <a:t>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F417D"/>
                </a:solidFill>
              </a:rPr>
              <a:t>Decision Tree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200" b="0" dirty="0">
                <a:solidFill>
                  <a:srgbClr val="282828"/>
                </a:solidFill>
              </a:rPr>
              <a:t>Accuracy = 0.931 | F1 = 0.955 | Recall = 0.913 | ROC-AUC = 0.971</a:t>
            </a:r>
          </a:p>
          <a:p>
            <a:pPr lvl="1"/>
            <a:r>
              <a:rPr sz="2200" b="0" dirty="0">
                <a:solidFill>
                  <a:srgbClr val="282828"/>
                </a:solidFill>
              </a:rPr>
              <a:t>False Negatives = 2 (old layoffs &gt;1000 days)</a:t>
            </a:r>
          </a:p>
          <a:p>
            <a:pPr lvl="1"/>
            <a:r>
              <a:rPr sz="2200" b="0" dirty="0">
                <a:solidFill>
                  <a:srgbClr val="282828"/>
                </a:solidFill>
              </a:rPr>
              <a:t>False Positives = 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EA1C3-826A-2A0C-F849-A0E129A4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45" y="2602125"/>
            <a:ext cx="5293855" cy="36731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1FE6C0-A870-D3F9-8291-0A98767684D0}"/>
              </a:ext>
            </a:extLst>
          </p:cNvPr>
          <p:cNvSpPr txBox="1"/>
          <p:nvPr/>
        </p:nvSpPr>
        <p:spPr>
          <a:xfrm>
            <a:off x="457200" y="3135937"/>
            <a:ext cx="35160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Error Analysis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 </a:t>
            </a:r>
            <a:r>
              <a:rPr lang="en-US" b="1" dirty="0"/>
              <a:t>False Negatives = 2</a:t>
            </a:r>
            <a:r>
              <a:rPr lang="en-US" dirty="0"/>
              <a:t> (Apollo, Rock Content)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historical layoff ratios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 layoffs occurred </a:t>
            </a:r>
            <a:r>
              <a:rPr lang="en-US" b="1" dirty="0"/>
              <a:t>&gt;1000 days ago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Tree down-weights old layoffs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 </a:t>
            </a:r>
            <a:r>
              <a:rPr lang="en-US" b="1" dirty="0"/>
              <a:t>False Positives = 0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good precision &amp; interpretability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F417D"/>
                </a:solidFill>
              </a:rPr>
              <a:t>Random Forest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5029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200" b="0" dirty="0">
                <a:solidFill>
                  <a:srgbClr val="282828"/>
                </a:solidFill>
              </a:rPr>
              <a:t>Accuracy = 0.862 | F1 = 0.920 | Recall = 1.000 | ROC-AUC = 0.928</a:t>
            </a:r>
          </a:p>
          <a:p>
            <a:pPr lvl="1"/>
            <a:r>
              <a:rPr sz="2200" b="0" dirty="0">
                <a:solidFill>
                  <a:srgbClr val="282828"/>
                </a:solidFill>
              </a:rPr>
              <a:t>False Positives = 4 → overpredicts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D892B-0EE6-801C-0C24-752FAC61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2770731"/>
            <a:ext cx="5617029" cy="3725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0582C-48E2-FB17-B89C-62BD53464802}"/>
              </a:ext>
            </a:extLst>
          </p:cNvPr>
          <p:cNvSpPr txBox="1"/>
          <p:nvPr/>
        </p:nvSpPr>
        <p:spPr>
          <a:xfrm>
            <a:off x="4833257" y="3816666"/>
            <a:ext cx="4114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Captures all positives (perfect recall)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produces </a:t>
            </a:r>
            <a:r>
              <a:rPr lang="en-US" b="1" dirty="0"/>
              <a:t>4 false positives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accurate overall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for “don’t miss any risky company”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324"/>
            <a:ext cx="8229600" cy="1143000"/>
          </a:xfrm>
        </p:spPr>
        <p:txBody>
          <a:bodyPr/>
          <a:lstStyle/>
          <a:p>
            <a:r>
              <a:rPr sz="4000" b="1" dirty="0">
                <a:solidFill>
                  <a:srgbClr val="0F417D"/>
                </a:solidFill>
              </a:rPr>
              <a:t>Prediction Demo (Predict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72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Using the full-dataset trained Decision Tree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358321"/>
              </p:ext>
            </p:extLst>
          </p:nvPr>
        </p:nvGraphicFramePr>
        <p:xfrm>
          <a:off x="4571999" y="1949164"/>
          <a:ext cx="4114801" cy="323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25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Company</a:t>
                      </a:r>
                    </a:p>
                  </a:txBody>
                  <a:tcPr>
                    <a:solidFill>
                      <a:srgbClr val="0F4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Industry</a:t>
                      </a:r>
                    </a:p>
                  </a:txBody>
                  <a:tcPr>
                    <a:solidFill>
                      <a:srgbClr val="0F4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layoff_ratio</a:t>
                      </a:r>
                      <a:endParaRPr sz="1400" dirty="0"/>
                    </a:p>
                  </a:txBody>
                  <a:tcPr>
                    <a:solidFill>
                      <a:srgbClr val="0F41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pred</a:t>
                      </a:r>
                    </a:p>
                  </a:txBody>
                  <a:tcPr>
                    <a:solidFill>
                      <a:srgbClr val="0F41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addepar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fintech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aqua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C80000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superrare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C80000"/>
                          </a:solidFill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C80000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bigcommerce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ecommerce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C80000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76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food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C80000"/>
                          </a:solidFill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citizen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/>
                        <a:t>vimeo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C80000"/>
                          </a:solidFill>
                        </a:defRPr>
                      </a:pPr>
                      <a:r>
                        <a:rPr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6B1DD3-1160-841C-71F6-8D85C6369367}"/>
              </a:ext>
            </a:extLst>
          </p:cNvPr>
          <p:cNvSpPr txBox="1"/>
          <p:nvPr/>
        </p:nvSpPr>
        <p:spPr>
          <a:xfrm>
            <a:off x="457199" y="2045645"/>
            <a:ext cx="4114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High </a:t>
            </a:r>
            <a:r>
              <a:rPr lang="en-US" dirty="0" err="1"/>
              <a:t>layoff_ratio</a:t>
            </a:r>
            <a:r>
              <a:rPr lang="en-US" dirty="0"/>
              <a:t> companies (≥0.07–0.10) consistently predicted as high risk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• Predictions align with industry patterns (security, blockchain, ecommerce)</a:t>
            </a:r>
          </a:p>
          <a:p>
            <a:endParaRPr lang="en-US" dirty="0"/>
          </a:p>
          <a:p>
            <a:r>
              <a:rPr lang="en-US" dirty="0"/>
              <a:t>• Low ratio companies (&lt;0.04) predicted as low risk → strong precision</a:t>
            </a:r>
          </a:p>
          <a:p>
            <a:endParaRPr lang="en-US" dirty="0"/>
          </a:p>
          <a:p>
            <a:r>
              <a:rPr lang="en-US" dirty="0"/>
              <a:t>• Interpretability: model behavior matches decision tree split thresholds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F417D"/>
                </a:solidFill>
              </a:rPr>
              <a:t>Usefulness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Who benefits?</a:t>
            </a:r>
          </a:p>
          <a:p>
            <a:pPr lvl="1"/>
            <a:r>
              <a:rPr lang="en-US" sz="2200" dirty="0">
                <a:solidFill>
                  <a:srgbClr val="282828"/>
                </a:solidFill>
              </a:rPr>
              <a:t>Employees: Avoid unstable companies.</a:t>
            </a:r>
            <a:endParaRPr lang="en-US" sz="2200" b="0" dirty="0">
              <a:solidFill>
                <a:srgbClr val="282828"/>
              </a:solidFill>
            </a:endParaRPr>
          </a:p>
          <a:p>
            <a:pPr lvl="1"/>
            <a:r>
              <a:rPr sz="2200" b="0" dirty="0">
                <a:solidFill>
                  <a:srgbClr val="282828"/>
                </a:solidFill>
              </a:rPr>
              <a:t>HR: Workforce planning &amp; forecasting.</a:t>
            </a:r>
            <a:endParaRPr lang="en-US" sz="2200" b="0" dirty="0">
              <a:solidFill>
                <a:srgbClr val="282828"/>
              </a:solidFill>
            </a:endParaRPr>
          </a:p>
          <a:p>
            <a:pPr lvl="1"/>
            <a:r>
              <a:rPr sz="2200" b="0" dirty="0">
                <a:solidFill>
                  <a:srgbClr val="282828"/>
                </a:solidFill>
              </a:rPr>
              <a:t>Investors/Analysts: Stability insights.</a:t>
            </a:r>
          </a:p>
          <a:p>
            <a:pPr lvl="1"/>
            <a:r>
              <a:rPr sz="2200" b="0" dirty="0">
                <a:solidFill>
                  <a:srgbClr val="282828"/>
                </a:solidFill>
              </a:rPr>
              <a:t>Policy Makers: Track sector-level layoffs.</a:t>
            </a:r>
            <a:endParaRPr lang="en-US" sz="2200" b="0" dirty="0">
              <a:solidFill>
                <a:srgbClr val="282828"/>
              </a:solidFill>
            </a:endParaRPr>
          </a:p>
          <a:p>
            <a:pPr lvl="1"/>
            <a:endParaRPr sz="2200" b="0" dirty="0">
              <a:solidFill>
                <a:srgbClr val="282828"/>
              </a:solidFill>
            </a:endParaRPr>
          </a:p>
          <a:p>
            <a:r>
              <a:rPr lang="en-US" sz="2800" b="1" dirty="0"/>
              <a:t>Why it works?</a:t>
            </a:r>
            <a:endParaRPr lang="en-US" sz="2800" dirty="0"/>
          </a:p>
          <a:p>
            <a:pPr lvl="1"/>
            <a:r>
              <a:rPr lang="en-US" sz="2200" dirty="0">
                <a:solidFill>
                  <a:srgbClr val="282828"/>
                </a:solidFill>
              </a:rPr>
              <a:t>Transparent Decision Tree</a:t>
            </a:r>
          </a:p>
          <a:p>
            <a:pPr lvl="1"/>
            <a:r>
              <a:rPr lang="en-US" sz="2200" dirty="0">
                <a:solidFill>
                  <a:srgbClr val="282828"/>
                </a:solidFill>
              </a:rPr>
              <a:t>Uses only public data</a:t>
            </a:r>
          </a:p>
          <a:p>
            <a:pPr lvl="1"/>
            <a:r>
              <a:rPr lang="en-US" sz="2200" dirty="0">
                <a:solidFill>
                  <a:srgbClr val="282828"/>
                </a:solidFill>
              </a:rPr>
              <a:t>Easy to extend and deploy</a:t>
            </a:r>
          </a:p>
          <a:p>
            <a:pPr marL="0" indent="0">
              <a:buNone/>
            </a:pPr>
            <a:endParaRPr sz="220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F417D"/>
                </a:solidFill>
              </a:rPr>
              <a:t>Future Work &amp; </a:t>
            </a:r>
            <a:r>
              <a:rPr lang="en-US" sz="4000" b="1" dirty="0">
                <a:solidFill>
                  <a:srgbClr val="0F417D"/>
                </a:solidFill>
              </a:rPr>
              <a:t>Improvements</a:t>
            </a:r>
            <a:endParaRPr sz="4000" b="1" dirty="0">
              <a:solidFill>
                <a:srgbClr val="0F417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8362"/>
            <a:ext cx="8229600" cy="5255305"/>
          </a:xfrm>
        </p:spPr>
        <p:txBody>
          <a:bodyPr>
            <a:normAutofit fontScale="55000" lnSpcReduction="20000"/>
          </a:bodyPr>
          <a:lstStyle/>
          <a:p>
            <a:r>
              <a:rPr lang="en-US" sz="4400" b="1" dirty="0"/>
              <a:t>More Resources</a:t>
            </a:r>
          </a:p>
          <a:p>
            <a:r>
              <a:rPr lang="en-US" sz="4200" dirty="0"/>
              <a:t>Integrate richer company data</a:t>
            </a:r>
          </a:p>
          <a:p>
            <a:pPr lvl="1"/>
            <a:r>
              <a:rPr lang="en-US" sz="4200" dirty="0"/>
              <a:t>Financial health (revenue, growth, cash flow)</a:t>
            </a:r>
          </a:p>
          <a:p>
            <a:pPr lvl="1"/>
            <a:r>
              <a:rPr lang="en-US" sz="4200" dirty="0"/>
              <a:t>Hiring freeze &amp; headcount trends</a:t>
            </a:r>
          </a:p>
          <a:p>
            <a:pPr lvl="1"/>
            <a:r>
              <a:rPr lang="en-US" sz="4200" dirty="0"/>
              <a:t>Funding events and investor signals</a:t>
            </a:r>
          </a:p>
          <a:p>
            <a:pPr lvl="1"/>
            <a:r>
              <a:rPr lang="en-US" sz="4200" dirty="0"/>
              <a:t>News sentiment &amp; stock volatility</a:t>
            </a:r>
          </a:p>
          <a:p>
            <a:r>
              <a:rPr lang="en-US" sz="4200" dirty="0"/>
              <a:t>Add time-series features (recent layoff spikes)</a:t>
            </a:r>
          </a:p>
          <a:p>
            <a:r>
              <a:rPr lang="en-US" sz="4200" dirty="0"/>
              <a:t>Explore advanced models (</a:t>
            </a:r>
            <a:r>
              <a:rPr lang="en-US" sz="4200" dirty="0" err="1"/>
              <a:t>XGBoost</a:t>
            </a:r>
            <a:r>
              <a:rPr lang="en-US" sz="4200" dirty="0"/>
              <a:t> / </a:t>
            </a:r>
            <a:r>
              <a:rPr lang="en-US" sz="4200" dirty="0" err="1"/>
              <a:t>LightGBM</a:t>
            </a:r>
            <a:r>
              <a:rPr lang="en-US" sz="4200" dirty="0"/>
              <a:t> / </a:t>
            </a:r>
            <a:r>
              <a:rPr lang="en-US" sz="4200" dirty="0" err="1"/>
              <a:t>AutoML</a:t>
            </a:r>
            <a:r>
              <a:rPr lang="en-US" sz="4200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4400" b="1" dirty="0"/>
              <a:t>Fairness &amp; Bias Reduction</a:t>
            </a:r>
          </a:p>
          <a:p>
            <a:pPr lvl="1">
              <a:spcBef>
                <a:spcPts val="520"/>
              </a:spcBef>
            </a:pPr>
            <a:r>
              <a:rPr lang="en-US" sz="4200" dirty="0"/>
              <a:t>Evaluate fairness across industries and company sizes</a:t>
            </a:r>
          </a:p>
          <a:p>
            <a:pPr lvl="1">
              <a:spcBef>
                <a:spcPts val="520"/>
              </a:spcBef>
            </a:pPr>
            <a:r>
              <a:rPr lang="en-US" sz="4200" dirty="0"/>
              <a:t>Mitigate industry bias via reweighting or stratified training</a:t>
            </a:r>
          </a:p>
          <a:p>
            <a:pPr lvl="1">
              <a:spcBef>
                <a:spcPts val="520"/>
              </a:spcBef>
            </a:pPr>
            <a:r>
              <a:rPr lang="en-US" sz="4200" dirty="0"/>
              <a:t>Apply post-hoc calibration to avoid overestimating risk</a:t>
            </a:r>
          </a:p>
          <a:p>
            <a:pPr lvl="1">
              <a:spcBef>
                <a:spcPts val="520"/>
              </a:spcBef>
            </a:pPr>
            <a:r>
              <a:rPr lang="en-US" sz="4200" dirty="0"/>
              <a:t>Enhance model transparency using SHAP / LIME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105591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sz="4800" b="1" dirty="0">
                <a:solidFill>
                  <a:srgbClr val="0F417D"/>
                </a:solidFill>
              </a:rPr>
            </a:br>
            <a:br>
              <a:rPr lang="en-US" sz="4800" b="1" dirty="0">
                <a:solidFill>
                  <a:srgbClr val="0F417D"/>
                </a:solidFill>
              </a:rPr>
            </a:br>
            <a:br>
              <a:rPr lang="en-US" sz="4800" b="1" dirty="0">
                <a:solidFill>
                  <a:srgbClr val="0F417D"/>
                </a:solidFill>
              </a:rPr>
            </a:br>
            <a:br>
              <a:rPr lang="en-US" sz="4800" b="1" dirty="0">
                <a:solidFill>
                  <a:srgbClr val="0F417D"/>
                </a:solidFill>
              </a:rPr>
            </a:br>
            <a:br>
              <a:rPr lang="en-US" sz="4800" b="1" dirty="0">
                <a:solidFill>
                  <a:srgbClr val="0F417D"/>
                </a:solidFill>
              </a:rPr>
            </a:br>
            <a:r>
              <a:rPr lang="en-US" sz="6700" b="1" dirty="0">
                <a:solidFill>
                  <a:srgbClr val="0F417D"/>
                </a:solidFill>
              </a:rPr>
              <a:t>Q</a:t>
            </a:r>
            <a:r>
              <a:rPr lang="en-US" altLang="zh-CN" sz="6700" b="1" dirty="0">
                <a:solidFill>
                  <a:srgbClr val="0F417D"/>
                </a:solidFill>
              </a:rPr>
              <a:t>&amp;A</a:t>
            </a:r>
            <a:endParaRPr sz="4800" b="1" dirty="0">
              <a:solidFill>
                <a:srgbClr val="0F417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2076-3C76-13E4-1F0E-BF9EBA0E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8257" y="2721428"/>
            <a:ext cx="3341914" cy="2925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0F417D"/>
                </a:solidFill>
              </a:rPr>
              <a:t>Thank</a:t>
            </a:r>
            <a:r>
              <a:rPr lang="zh-CN" altLang="en-US" sz="4800" b="1" dirty="0">
                <a:solidFill>
                  <a:srgbClr val="0F417D"/>
                </a:solidFill>
              </a:rPr>
              <a:t> </a:t>
            </a:r>
            <a:r>
              <a:rPr lang="en-US" altLang="zh-CN" sz="4800" b="1" dirty="0">
                <a:solidFill>
                  <a:srgbClr val="0F417D"/>
                </a:solidFill>
              </a:rPr>
              <a:t>you</a:t>
            </a:r>
            <a:r>
              <a:rPr lang="zh-CN" altLang="en-US" sz="4800" b="1" dirty="0">
                <a:solidFill>
                  <a:srgbClr val="0F417D"/>
                </a:solidFill>
              </a:rPr>
              <a:t> 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6665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226</TotalTime>
  <Words>599</Words>
  <Application>Microsoft Macintosh PowerPoint</Application>
  <PresentationFormat>On-screen Show (4:3)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Layoff Risk Classification</vt:lpstr>
      <vt:lpstr>Problem Statement &amp; Context</vt:lpstr>
      <vt:lpstr>Data Extraction &amp; EDA Insights</vt:lpstr>
      <vt:lpstr>Layoff Trends Over Time</vt:lpstr>
      <vt:lpstr>Modeling Strategy (Learn Phase)</vt:lpstr>
      <vt:lpstr>Decision Tree Results</vt:lpstr>
      <vt:lpstr>Random Forest Results</vt:lpstr>
      <vt:lpstr>Prediction Demo (Predict Phase)</vt:lpstr>
      <vt:lpstr>Usefulness &amp; Users</vt:lpstr>
      <vt:lpstr>Future Work &amp; Improvements</vt:lpstr>
      <vt:lpstr>     Q&amp;A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Shirui Zhang</cp:lastModifiedBy>
  <cp:revision>4</cp:revision>
  <dcterms:created xsi:type="dcterms:W3CDTF">2013-01-27T09:14:16Z</dcterms:created>
  <dcterms:modified xsi:type="dcterms:W3CDTF">2025-12-03T03:38:40Z</dcterms:modified>
  <cp:category/>
</cp:coreProperties>
</file>